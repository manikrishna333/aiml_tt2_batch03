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172C4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172C4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172C4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172C4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6257" y="86613"/>
            <a:ext cx="11119485" cy="7150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172C4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9909" y="1730629"/>
            <a:ext cx="10787380" cy="3041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3">
            <a:extLst>
              <a:ext uri="{FF2B5EF4-FFF2-40B4-BE49-F238E27FC236}">
                <a16:creationId xmlns:a16="http://schemas.microsoft.com/office/drawing/2014/main" id="{0DBFC9FE-0994-295B-304E-CECEA72D8B5C}"/>
              </a:ext>
            </a:extLst>
          </p:cNvPr>
          <p:cNvSpPr txBox="1"/>
          <p:nvPr/>
        </p:nvSpPr>
        <p:spPr>
          <a:xfrm>
            <a:off x="694340" y="2301641"/>
            <a:ext cx="103601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75B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Capstone Project – Review I</a:t>
            </a:r>
            <a:endParaRPr lang="en-US" sz="2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936BDA-1F76-B7D3-2E6F-5B06E418412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81000" y="231405"/>
            <a:ext cx="2159000" cy="1951990"/>
          </a:xfrm>
          <a:prstGeom prst="rect">
            <a:avLst/>
          </a:prstGeom>
        </p:spPr>
      </p:pic>
      <p:sp>
        <p:nvSpPr>
          <p:cNvPr id="18" name="object 2">
            <a:extLst>
              <a:ext uri="{FF2B5EF4-FFF2-40B4-BE49-F238E27FC236}">
                <a16:creationId xmlns:a16="http://schemas.microsoft.com/office/drawing/2014/main" id="{DFDE5A06-9E46-25DD-0329-52DE1ADC2431}"/>
              </a:ext>
            </a:extLst>
          </p:cNvPr>
          <p:cNvSpPr txBox="1"/>
          <p:nvPr/>
        </p:nvSpPr>
        <p:spPr>
          <a:xfrm>
            <a:off x="914400" y="3559938"/>
            <a:ext cx="4363085" cy="864869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>
            <a:defPPr>
              <a:defRPr kern="0"/>
            </a:defPPr>
          </a:lstStyle>
          <a:p>
            <a:pPr marL="298450" indent="-285750">
              <a:lnSpc>
                <a:spcPct val="100000"/>
              </a:lnSpc>
              <a:spcBef>
                <a:spcPts val="1245"/>
              </a:spcBef>
              <a:buFont typeface="Arial MT"/>
              <a:buChar char="•"/>
              <a:tabLst>
                <a:tab pos="298450" algn="l"/>
                <a:tab pos="3596640" algn="l"/>
              </a:tabLst>
            </a:pPr>
            <a:r>
              <a:rPr sz="1800" dirty="0">
                <a:latin typeface="Calibri"/>
                <a:cs typeface="Calibri"/>
              </a:rPr>
              <a:t>25B11AI006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–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MANI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KRISHNAN</a:t>
            </a:r>
            <a:r>
              <a:rPr sz="1800" dirty="0">
                <a:latin typeface="Calibri"/>
                <a:cs typeface="Calibri"/>
              </a:rPr>
              <a:t>	-</a:t>
            </a:r>
            <a:r>
              <a:rPr sz="1800" spc="4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AIML</a:t>
            </a:r>
            <a:endParaRPr sz="1800" dirty="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1145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dirty="0">
                <a:latin typeface="Calibri"/>
                <a:cs typeface="Calibri"/>
              </a:rPr>
              <a:t>25B11AI218</a:t>
            </a:r>
            <a:r>
              <a:rPr sz="1800" spc="3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VENKATA</a:t>
            </a:r>
            <a:r>
              <a:rPr sz="1800" dirty="0">
                <a:latin typeface="Calibri"/>
                <a:cs typeface="Calibri"/>
              </a:rPr>
              <a:t> KOUSHIK-</a:t>
            </a:r>
            <a:r>
              <a:rPr sz="1800" spc="3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AIML</a:t>
            </a:r>
          </a:p>
        </p:txBody>
      </p:sp>
      <p:sp>
        <p:nvSpPr>
          <p:cNvPr id="20" name="object 4">
            <a:extLst>
              <a:ext uri="{FF2B5EF4-FFF2-40B4-BE49-F238E27FC236}">
                <a16:creationId xmlns:a16="http://schemas.microsoft.com/office/drawing/2014/main" id="{BD46E817-E106-EBC6-B10F-AD43ED97563C}"/>
              </a:ext>
            </a:extLst>
          </p:cNvPr>
          <p:cNvSpPr txBox="1"/>
          <p:nvPr/>
        </p:nvSpPr>
        <p:spPr>
          <a:xfrm>
            <a:off x="4337081" y="4664731"/>
            <a:ext cx="3074670" cy="2035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28638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Academic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Year: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2026-</a:t>
            </a:r>
            <a:r>
              <a:rPr sz="1800" spc="-20" dirty="0">
                <a:latin typeface="Times New Roman"/>
                <a:cs typeface="Times New Roman"/>
              </a:rPr>
              <a:t>2027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812800" marR="5080" indent="-800735">
              <a:lnSpc>
                <a:spcPct val="100800"/>
              </a:lnSpc>
            </a:pPr>
            <a:r>
              <a:rPr sz="1800" dirty="0">
                <a:latin typeface="Calibri"/>
                <a:cs typeface="Calibri"/>
              </a:rPr>
              <a:t>Under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esteemed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guidance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of </a:t>
            </a:r>
            <a:r>
              <a:rPr sz="1800" b="1" dirty="0">
                <a:latin typeface="Calibri"/>
                <a:cs typeface="Calibri"/>
              </a:rPr>
              <a:t>Dr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</a:t>
            </a:r>
            <a:r>
              <a:rPr sz="1800" b="1" spc="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Kishorekumar </a:t>
            </a:r>
            <a:r>
              <a:rPr sz="1800" spc="-10" dirty="0">
                <a:latin typeface="Calibri"/>
                <a:cs typeface="Calibri"/>
              </a:rPr>
              <a:t>Associate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Professor Department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AIML </a:t>
            </a:r>
            <a:r>
              <a:rPr sz="1800" b="1" dirty="0">
                <a:latin typeface="Calibri"/>
                <a:cs typeface="Calibri"/>
              </a:rPr>
              <a:t>Aditya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University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2" name="object 6">
            <a:extLst>
              <a:ext uri="{FF2B5EF4-FFF2-40B4-BE49-F238E27FC236}">
                <a16:creationId xmlns:a16="http://schemas.microsoft.com/office/drawing/2014/main" id="{D0EBAA1C-35B7-34A2-C895-924AB81C66FA}"/>
              </a:ext>
            </a:extLst>
          </p:cNvPr>
          <p:cNvSpPr txBox="1"/>
          <p:nvPr/>
        </p:nvSpPr>
        <p:spPr>
          <a:xfrm>
            <a:off x="5714090" y="3559938"/>
            <a:ext cx="6242050" cy="864869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>
            <a:defPPr>
              <a:defRPr kern="0"/>
            </a:defPPr>
          </a:lstStyle>
          <a:p>
            <a:pPr marL="298450" indent="-285750">
              <a:lnSpc>
                <a:spcPct val="100000"/>
              </a:lnSpc>
              <a:spcBef>
                <a:spcPts val="1245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dirty="0">
                <a:latin typeface="Calibri"/>
                <a:cs typeface="Calibri"/>
              </a:rPr>
              <a:t>26B61AI002-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MADDIPATI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BHUVANA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VENKATA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JASWANTH-</a:t>
            </a:r>
            <a:r>
              <a:rPr sz="1800" spc="29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AIML</a:t>
            </a:r>
            <a:endParaRPr sz="1800" dirty="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1145"/>
              </a:spcBef>
              <a:buFont typeface="Arial MT"/>
              <a:buChar char="•"/>
              <a:tabLst>
                <a:tab pos="298450" algn="l"/>
                <a:tab pos="1685289" algn="l"/>
              </a:tabLst>
            </a:pPr>
            <a:r>
              <a:rPr sz="1800" spc="-10" dirty="0">
                <a:latin typeface="Calibri"/>
                <a:cs typeface="Calibri"/>
              </a:rPr>
              <a:t>25B11AI116</a:t>
            </a:r>
            <a:r>
              <a:rPr sz="1800" dirty="0">
                <a:latin typeface="Calibri"/>
                <a:cs typeface="Calibri"/>
              </a:rPr>
              <a:t>	-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SRI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RAM KISHAN-</a:t>
            </a:r>
            <a:r>
              <a:rPr sz="1800" spc="40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AIML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466232-8058-8A04-03A0-41C507194237}"/>
              </a:ext>
            </a:extLst>
          </p:cNvPr>
          <p:cNvSpPr txBox="1"/>
          <p:nvPr/>
        </p:nvSpPr>
        <p:spPr>
          <a:xfrm>
            <a:off x="4975778" y="3222685"/>
            <a:ext cx="1476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cs typeface="Calibri"/>
              </a:rPr>
              <a:t>Presented</a:t>
            </a:r>
            <a:r>
              <a:rPr lang="en-IN" b="1" spc="-70" dirty="0">
                <a:cs typeface="Calibri"/>
              </a:rPr>
              <a:t> </a:t>
            </a:r>
            <a:r>
              <a:rPr lang="en-IN" b="1" spc="-25" dirty="0">
                <a:cs typeface="Calibri"/>
              </a:rPr>
              <a:t>by:</a:t>
            </a:r>
            <a:endParaRPr lang="en-IN" dirty="0">
              <a:cs typeface="Calibri"/>
            </a:endParaRPr>
          </a:p>
          <a:p>
            <a:endParaRPr lang="en-IN" dirty="0"/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3B67107A-E0DE-AB8E-E5EE-932275B3B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0" y="483580"/>
            <a:ext cx="9293543" cy="1354217"/>
          </a:xfrm>
        </p:spPr>
        <p:txBody>
          <a:bodyPr/>
          <a:lstStyle/>
          <a:p>
            <a:pPr marL="0" indent="0"/>
            <a:r>
              <a:rPr lang="en-US" sz="4400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Hospital Management</a:t>
            </a:r>
            <a:br>
              <a:rPr lang="en-US" sz="4400" dirty="0"/>
            </a:br>
            <a:r>
              <a:rPr lang="en-US" sz="4400" dirty="0"/>
              <a:t>   </a:t>
            </a:r>
            <a:r>
              <a:rPr lang="en-US" sz="4400" dirty="0">
                <a:solidFill>
                  <a:srgbClr val="182D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System</a:t>
            </a:r>
            <a:endParaRPr lang="en-IN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380988" y="6371125"/>
            <a:ext cx="11396980" cy="73660"/>
            <a:chOff x="380988" y="6371125"/>
            <a:chExt cx="11396980" cy="73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988" y="6371125"/>
              <a:ext cx="11396749" cy="73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09574" y="6381749"/>
              <a:ext cx="11344275" cy="9525"/>
            </a:xfrm>
            <a:custGeom>
              <a:avLst/>
              <a:gdLst/>
              <a:ahLst/>
              <a:cxnLst/>
              <a:rect l="l" t="t" r="r" b="b"/>
              <a:pathLst>
                <a:path w="11344275" h="9525">
                  <a:moveTo>
                    <a:pt x="1134427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1344275" y="9525"/>
                  </a:lnTo>
                  <a:lnTo>
                    <a:pt x="11344275" y="0"/>
                  </a:lnTo>
                  <a:close/>
                </a:path>
              </a:pathLst>
            </a:custGeom>
            <a:solidFill>
              <a:srgbClr val="D2E1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393" rIns="0" bIns="0" rtlCol="0">
            <a:spAutoFit/>
          </a:bodyPr>
          <a:lstStyle/>
          <a:p>
            <a:pPr marL="195580">
              <a:lnSpc>
                <a:spcPct val="100000"/>
              </a:lnSpc>
              <a:spcBef>
                <a:spcPts val="125"/>
              </a:spcBef>
            </a:pPr>
            <a:r>
              <a:rPr sz="2450" spc="-10" dirty="0">
                <a:solidFill>
                  <a:srgbClr val="133755"/>
                </a:solidFill>
                <a:latin typeface="Calibri"/>
                <a:cs typeface="Calibri"/>
              </a:rPr>
              <a:t>Outline</a:t>
            </a:r>
            <a:endParaRPr sz="24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37930" y="1190286"/>
            <a:ext cx="443865" cy="452755"/>
            <a:chOff x="837930" y="1190286"/>
            <a:chExt cx="443865" cy="45275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7930" y="1190286"/>
              <a:ext cx="443451" cy="44337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5825" y="1228661"/>
              <a:ext cx="347662" cy="41433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66775" y="1200150"/>
              <a:ext cx="390525" cy="381000"/>
            </a:xfrm>
            <a:custGeom>
              <a:avLst/>
              <a:gdLst/>
              <a:ahLst/>
              <a:cxnLst/>
              <a:rect l="l" t="t" r="r" b="b"/>
              <a:pathLst>
                <a:path w="390525" h="381000">
                  <a:moveTo>
                    <a:pt x="195262" y="0"/>
                  </a:moveTo>
                  <a:lnTo>
                    <a:pt x="150492" y="5034"/>
                  </a:lnTo>
                  <a:lnTo>
                    <a:pt x="109393" y="19372"/>
                  </a:lnTo>
                  <a:lnTo>
                    <a:pt x="73137" y="41867"/>
                  </a:lnTo>
                  <a:lnTo>
                    <a:pt x="42898" y="71374"/>
                  </a:lnTo>
                  <a:lnTo>
                    <a:pt x="19847" y="106746"/>
                  </a:lnTo>
                  <a:lnTo>
                    <a:pt x="5157" y="146837"/>
                  </a:lnTo>
                  <a:lnTo>
                    <a:pt x="0" y="190500"/>
                  </a:lnTo>
                  <a:lnTo>
                    <a:pt x="5157" y="234162"/>
                  </a:lnTo>
                  <a:lnTo>
                    <a:pt x="19847" y="274253"/>
                  </a:lnTo>
                  <a:lnTo>
                    <a:pt x="42898" y="309625"/>
                  </a:lnTo>
                  <a:lnTo>
                    <a:pt x="73137" y="339132"/>
                  </a:lnTo>
                  <a:lnTo>
                    <a:pt x="109393" y="361627"/>
                  </a:lnTo>
                  <a:lnTo>
                    <a:pt x="150492" y="375965"/>
                  </a:lnTo>
                  <a:lnTo>
                    <a:pt x="195262" y="381000"/>
                  </a:lnTo>
                  <a:lnTo>
                    <a:pt x="240032" y="375965"/>
                  </a:lnTo>
                  <a:lnTo>
                    <a:pt x="281131" y="361627"/>
                  </a:lnTo>
                  <a:lnTo>
                    <a:pt x="317387" y="339132"/>
                  </a:lnTo>
                  <a:lnTo>
                    <a:pt x="347626" y="309625"/>
                  </a:lnTo>
                  <a:lnTo>
                    <a:pt x="370677" y="274253"/>
                  </a:lnTo>
                  <a:lnTo>
                    <a:pt x="385367" y="234162"/>
                  </a:lnTo>
                  <a:lnTo>
                    <a:pt x="390525" y="190500"/>
                  </a:lnTo>
                  <a:lnTo>
                    <a:pt x="385367" y="146837"/>
                  </a:lnTo>
                  <a:lnTo>
                    <a:pt x="370677" y="106746"/>
                  </a:lnTo>
                  <a:lnTo>
                    <a:pt x="347626" y="71374"/>
                  </a:lnTo>
                  <a:lnTo>
                    <a:pt x="317387" y="41867"/>
                  </a:lnTo>
                  <a:lnTo>
                    <a:pt x="281131" y="19372"/>
                  </a:lnTo>
                  <a:lnTo>
                    <a:pt x="240032" y="5034"/>
                  </a:lnTo>
                  <a:lnTo>
                    <a:pt x="195262" y="0"/>
                  </a:lnTo>
                  <a:close/>
                </a:path>
              </a:pathLst>
            </a:custGeom>
            <a:solidFill>
              <a:srgbClr val="1F8F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013142" y="1285557"/>
            <a:ext cx="9842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15491" y="1241361"/>
            <a:ext cx="98488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C3740"/>
                </a:solidFill>
                <a:latin typeface="Calibri"/>
                <a:cs typeface="Calibri"/>
              </a:rPr>
              <a:t>Introduction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37930" y="2018961"/>
            <a:ext cx="443865" cy="452755"/>
            <a:chOff x="837930" y="2018961"/>
            <a:chExt cx="443865" cy="452755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7930" y="2018961"/>
              <a:ext cx="443451" cy="44337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5825" y="2057336"/>
              <a:ext cx="347662" cy="41433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66775" y="2028824"/>
              <a:ext cx="390525" cy="381000"/>
            </a:xfrm>
            <a:custGeom>
              <a:avLst/>
              <a:gdLst/>
              <a:ahLst/>
              <a:cxnLst/>
              <a:rect l="l" t="t" r="r" b="b"/>
              <a:pathLst>
                <a:path w="390525" h="381000">
                  <a:moveTo>
                    <a:pt x="195262" y="0"/>
                  </a:moveTo>
                  <a:lnTo>
                    <a:pt x="150492" y="5034"/>
                  </a:lnTo>
                  <a:lnTo>
                    <a:pt x="109393" y="19372"/>
                  </a:lnTo>
                  <a:lnTo>
                    <a:pt x="73137" y="41867"/>
                  </a:lnTo>
                  <a:lnTo>
                    <a:pt x="42898" y="71374"/>
                  </a:lnTo>
                  <a:lnTo>
                    <a:pt x="19847" y="106746"/>
                  </a:lnTo>
                  <a:lnTo>
                    <a:pt x="5157" y="146837"/>
                  </a:lnTo>
                  <a:lnTo>
                    <a:pt x="0" y="190500"/>
                  </a:lnTo>
                  <a:lnTo>
                    <a:pt x="5157" y="234162"/>
                  </a:lnTo>
                  <a:lnTo>
                    <a:pt x="19847" y="274253"/>
                  </a:lnTo>
                  <a:lnTo>
                    <a:pt x="42898" y="309625"/>
                  </a:lnTo>
                  <a:lnTo>
                    <a:pt x="73137" y="339132"/>
                  </a:lnTo>
                  <a:lnTo>
                    <a:pt x="109393" y="361627"/>
                  </a:lnTo>
                  <a:lnTo>
                    <a:pt x="150492" y="375965"/>
                  </a:lnTo>
                  <a:lnTo>
                    <a:pt x="195262" y="381000"/>
                  </a:lnTo>
                  <a:lnTo>
                    <a:pt x="240032" y="375965"/>
                  </a:lnTo>
                  <a:lnTo>
                    <a:pt x="281131" y="361627"/>
                  </a:lnTo>
                  <a:lnTo>
                    <a:pt x="317387" y="339132"/>
                  </a:lnTo>
                  <a:lnTo>
                    <a:pt x="347626" y="309625"/>
                  </a:lnTo>
                  <a:lnTo>
                    <a:pt x="370677" y="274253"/>
                  </a:lnTo>
                  <a:lnTo>
                    <a:pt x="385367" y="234162"/>
                  </a:lnTo>
                  <a:lnTo>
                    <a:pt x="390525" y="190500"/>
                  </a:lnTo>
                  <a:lnTo>
                    <a:pt x="385367" y="146837"/>
                  </a:lnTo>
                  <a:lnTo>
                    <a:pt x="370677" y="106746"/>
                  </a:lnTo>
                  <a:lnTo>
                    <a:pt x="347626" y="71374"/>
                  </a:lnTo>
                  <a:lnTo>
                    <a:pt x="317387" y="41867"/>
                  </a:lnTo>
                  <a:lnTo>
                    <a:pt x="281131" y="19372"/>
                  </a:lnTo>
                  <a:lnTo>
                    <a:pt x="240032" y="5034"/>
                  </a:lnTo>
                  <a:lnTo>
                    <a:pt x="195262" y="0"/>
                  </a:lnTo>
                  <a:close/>
                </a:path>
              </a:pathLst>
            </a:custGeom>
            <a:solidFill>
              <a:srgbClr val="1F8F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013142" y="2118677"/>
            <a:ext cx="9842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15491" y="2083752"/>
            <a:ext cx="153098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2C3740"/>
                </a:solidFill>
                <a:latin typeface="Calibri"/>
                <a:cs typeface="Calibri"/>
              </a:rPr>
              <a:t>Problem</a:t>
            </a:r>
            <a:r>
              <a:rPr sz="1500" spc="-75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C3740"/>
                </a:solidFill>
                <a:latin typeface="Calibri"/>
                <a:cs typeface="Calibri"/>
              </a:rPr>
              <a:t>Statement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37930" y="2857166"/>
            <a:ext cx="443865" cy="453390"/>
            <a:chOff x="837930" y="2857166"/>
            <a:chExt cx="443865" cy="453390"/>
          </a:xfrm>
        </p:grpSpPr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7930" y="2857166"/>
              <a:ext cx="443451" cy="45288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5825" y="2905061"/>
              <a:ext cx="347662" cy="40481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66775" y="2867024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195262" y="0"/>
                  </a:moveTo>
                  <a:lnTo>
                    <a:pt x="150492" y="5154"/>
                  </a:lnTo>
                  <a:lnTo>
                    <a:pt x="109393" y="19837"/>
                  </a:lnTo>
                  <a:lnTo>
                    <a:pt x="73137" y="42877"/>
                  </a:lnTo>
                  <a:lnTo>
                    <a:pt x="42898" y="73104"/>
                  </a:lnTo>
                  <a:lnTo>
                    <a:pt x="19847" y="109347"/>
                  </a:lnTo>
                  <a:lnTo>
                    <a:pt x="5157" y="150436"/>
                  </a:lnTo>
                  <a:lnTo>
                    <a:pt x="0" y="195199"/>
                  </a:lnTo>
                  <a:lnTo>
                    <a:pt x="5157" y="240008"/>
                  </a:lnTo>
                  <a:lnTo>
                    <a:pt x="19847" y="281130"/>
                  </a:lnTo>
                  <a:lnTo>
                    <a:pt x="42898" y="317396"/>
                  </a:lnTo>
                  <a:lnTo>
                    <a:pt x="73137" y="347637"/>
                  </a:lnTo>
                  <a:lnTo>
                    <a:pt x="109393" y="370684"/>
                  </a:lnTo>
                  <a:lnTo>
                    <a:pt x="150492" y="385370"/>
                  </a:lnTo>
                  <a:lnTo>
                    <a:pt x="195262" y="390525"/>
                  </a:lnTo>
                  <a:lnTo>
                    <a:pt x="240032" y="385370"/>
                  </a:lnTo>
                  <a:lnTo>
                    <a:pt x="281131" y="370684"/>
                  </a:lnTo>
                  <a:lnTo>
                    <a:pt x="317387" y="347637"/>
                  </a:lnTo>
                  <a:lnTo>
                    <a:pt x="347626" y="317396"/>
                  </a:lnTo>
                  <a:lnTo>
                    <a:pt x="370677" y="281130"/>
                  </a:lnTo>
                  <a:lnTo>
                    <a:pt x="385367" y="240008"/>
                  </a:lnTo>
                  <a:lnTo>
                    <a:pt x="390525" y="195199"/>
                  </a:lnTo>
                  <a:lnTo>
                    <a:pt x="385367" y="150436"/>
                  </a:lnTo>
                  <a:lnTo>
                    <a:pt x="370677" y="109347"/>
                  </a:lnTo>
                  <a:lnTo>
                    <a:pt x="347626" y="73104"/>
                  </a:lnTo>
                  <a:lnTo>
                    <a:pt x="317387" y="42877"/>
                  </a:lnTo>
                  <a:lnTo>
                    <a:pt x="281131" y="19837"/>
                  </a:lnTo>
                  <a:lnTo>
                    <a:pt x="240032" y="5154"/>
                  </a:lnTo>
                  <a:lnTo>
                    <a:pt x="195262" y="0"/>
                  </a:lnTo>
                  <a:close/>
                </a:path>
              </a:pathLst>
            </a:custGeom>
            <a:solidFill>
              <a:srgbClr val="1F8F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013142" y="2961640"/>
            <a:ext cx="9842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15491" y="2926016"/>
            <a:ext cx="83502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C3740"/>
                </a:solidFill>
                <a:latin typeface="Calibri"/>
                <a:cs typeface="Calibri"/>
              </a:rPr>
              <a:t>Objectives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37930" y="3704886"/>
            <a:ext cx="443865" cy="452755"/>
            <a:chOff x="837930" y="3704886"/>
            <a:chExt cx="443865" cy="452755"/>
          </a:xfrm>
        </p:grpSpPr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7930" y="3704886"/>
              <a:ext cx="443451" cy="44337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5825" y="3743261"/>
              <a:ext cx="347662" cy="41433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866775" y="3714749"/>
              <a:ext cx="390525" cy="381000"/>
            </a:xfrm>
            <a:custGeom>
              <a:avLst/>
              <a:gdLst/>
              <a:ahLst/>
              <a:cxnLst/>
              <a:rect l="l" t="t" r="r" b="b"/>
              <a:pathLst>
                <a:path w="390525" h="381000">
                  <a:moveTo>
                    <a:pt x="195262" y="0"/>
                  </a:moveTo>
                  <a:lnTo>
                    <a:pt x="150492" y="5034"/>
                  </a:lnTo>
                  <a:lnTo>
                    <a:pt x="109393" y="19372"/>
                  </a:lnTo>
                  <a:lnTo>
                    <a:pt x="73137" y="41867"/>
                  </a:lnTo>
                  <a:lnTo>
                    <a:pt x="42898" y="71374"/>
                  </a:lnTo>
                  <a:lnTo>
                    <a:pt x="19847" y="106746"/>
                  </a:lnTo>
                  <a:lnTo>
                    <a:pt x="5157" y="146837"/>
                  </a:lnTo>
                  <a:lnTo>
                    <a:pt x="0" y="190500"/>
                  </a:lnTo>
                  <a:lnTo>
                    <a:pt x="5157" y="234162"/>
                  </a:lnTo>
                  <a:lnTo>
                    <a:pt x="19847" y="274253"/>
                  </a:lnTo>
                  <a:lnTo>
                    <a:pt x="42898" y="309625"/>
                  </a:lnTo>
                  <a:lnTo>
                    <a:pt x="73137" y="339132"/>
                  </a:lnTo>
                  <a:lnTo>
                    <a:pt x="109393" y="361627"/>
                  </a:lnTo>
                  <a:lnTo>
                    <a:pt x="150492" y="375965"/>
                  </a:lnTo>
                  <a:lnTo>
                    <a:pt x="195262" y="381000"/>
                  </a:lnTo>
                  <a:lnTo>
                    <a:pt x="240032" y="375965"/>
                  </a:lnTo>
                  <a:lnTo>
                    <a:pt x="281131" y="361627"/>
                  </a:lnTo>
                  <a:lnTo>
                    <a:pt x="317387" y="339132"/>
                  </a:lnTo>
                  <a:lnTo>
                    <a:pt x="347626" y="309625"/>
                  </a:lnTo>
                  <a:lnTo>
                    <a:pt x="370677" y="274253"/>
                  </a:lnTo>
                  <a:lnTo>
                    <a:pt x="385367" y="234162"/>
                  </a:lnTo>
                  <a:lnTo>
                    <a:pt x="390525" y="190500"/>
                  </a:lnTo>
                  <a:lnTo>
                    <a:pt x="385367" y="146837"/>
                  </a:lnTo>
                  <a:lnTo>
                    <a:pt x="370677" y="106746"/>
                  </a:lnTo>
                  <a:lnTo>
                    <a:pt x="347626" y="71374"/>
                  </a:lnTo>
                  <a:lnTo>
                    <a:pt x="317387" y="41867"/>
                  </a:lnTo>
                  <a:lnTo>
                    <a:pt x="281131" y="19372"/>
                  </a:lnTo>
                  <a:lnTo>
                    <a:pt x="240032" y="5034"/>
                  </a:lnTo>
                  <a:lnTo>
                    <a:pt x="195262" y="0"/>
                  </a:lnTo>
                  <a:close/>
                </a:path>
              </a:pathLst>
            </a:custGeom>
            <a:solidFill>
              <a:srgbClr val="1F8F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013142" y="3803904"/>
            <a:ext cx="9842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15491" y="3768407"/>
            <a:ext cx="108521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C3740"/>
                </a:solidFill>
                <a:latin typeface="Calibri"/>
                <a:cs typeface="Calibri"/>
              </a:rPr>
              <a:t>System</a:t>
            </a:r>
            <a:r>
              <a:rPr sz="1500" spc="-60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C3740"/>
                </a:solidFill>
                <a:latin typeface="Calibri"/>
                <a:cs typeface="Calibri"/>
              </a:rPr>
              <a:t>Scope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837930" y="4543086"/>
            <a:ext cx="443865" cy="452755"/>
            <a:chOff x="837930" y="4543086"/>
            <a:chExt cx="443865" cy="452755"/>
          </a:xfrm>
        </p:grpSpPr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7930" y="4543086"/>
              <a:ext cx="443451" cy="44337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85825" y="4581461"/>
              <a:ext cx="347662" cy="41433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866775" y="4552949"/>
              <a:ext cx="390525" cy="381000"/>
            </a:xfrm>
            <a:custGeom>
              <a:avLst/>
              <a:gdLst/>
              <a:ahLst/>
              <a:cxnLst/>
              <a:rect l="l" t="t" r="r" b="b"/>
              <a:pathLst>
                <a:path w="390525" h="381000">
                  <a:moveTo>
                    <a:pt x="195262" y="0"/>
                  </a:moveTo>
                  <a:lnTo>
                    <a:pt x="150492" y="5034"/>
                  </a:lnTo>
                  <a:lnTo>
                    <a:pt x="109393" y="19372"/>
                  </a:lnTo>
                  <a:lnTo>
                    <a:pt x="73137" y="41867"/>
                  </a:lnTo>
                  <a:lnTo>
                    <a:pt x="42898" y="71374"/>
                  </a:lnTo>
                  <a:lnTo>
                    <a:pt x="19847" y="106746"/>
                  </a:lnTo>
                  <a:lnTo>
                    <a:pt x="5157" y="146837"/>
                  </a:lnTo>
                  <a:lnTo>
                    <a:pt x="0" y="190500"/>
                  </a:lnTo>
                  <a:lnTo>
                    <a:pt x="5157" y="234162"/>
                  </a:lnTo>
                  <a:lnTo>
                    <a:pt x="19847" y="274253"/>
                  </a:lnTo>
                  <a:lnTo>
                    <a:pt x="42898" y="309625"/>
                  </a:lnTo>
                  <a:lnTo>
                    <a:pt x="73137" y="339132"/>
                  </a:lnTo>
                  <a:lnTo>
                    <a:pt x="109393" y="361627"/>
                  </a:lnTo>
                  <a:lnTo>
                    <a:pt x="150492" y="375965"/>
                  </a:lnTo>
                  <a:lnTo>
                    <a:pt x="195262" y="381000"/>
                  </a:lnTo>
                  <a:lnTo>
                    <a:pt x="240032" y="375965"/>
                  </a:lnTo>
                  <a:lnTo>
                    <a:pt x="281131" y="361627"/>
                  </a:lnTo>
                  <a:lnTo>
                    <a:pt x="317387" y="339132"/>
                  </a:lnTo>
                  <a:lnTo>
                    <a:pt x="347626" y="309625"/>
                  </a:lnTo>
                  <a:lnTo>
                    <a:pt x="370677" y="274253"/>
                  </a:lnTo>
                  <a:lnTo>
                    <a:pt x="385367" y="234162"/>
                  </a:lnTo>
                  <a:lnTo>
                    <a:pt x="390525" y="190500"/>
                  </a:lnTo>
                  <a:lnTo>
                    <a:pt x="385367" y="146837"/>
                  </a:lnTo>
                  <a:lnTo>
                    <a:pt x="370677" y="106746"/>
                  </a:lnTo>
                  <a:lnTo>
                    <a:pt x="347626" y="71374"/>
                  </a:lnTo>
                  <a:lnTo>
                    <a:pt x="317387" y="41867"/>
                  </a:lnTo>
                  <a:lnTo>
                    <a:pt x="281131" y="19372"/>
                  </a:lnTo>
                  <a:lnTo>
                    <a:pt x="240032" y="5034"/>
                  </a:lnTo>
                  <a:lnTo>
                    <a:pt x="195262" y="0"/>
                  </a:lnTo>
                  <a:close/>
                </a:path>
              </a:pathLst>
            </a:custGeom>
            <a:solidFill>
              <a:srgbClr val="1F8F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013142" y="4645977"/>
            <a:ext cx="9842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515491" y="4611052"/>
            <a:ext cx="158877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2C3740"/>
                </a:solidFill>
                <a:latin typeface="Calibri"/>
                <a:cs typeface="Calibri"/>
              </a:rPr>
              <a:t>Entities</a:t>
            </a:r>
            <a:r>
              <a:rPr sz="1500" spc="-50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C3740"/>
                </a:solidFill>
                <a:latin typeface="Calibri"/>
                <a:cs typeface="Calibri"/>
              </a:rPr>
              <a:t>&amp;</a:t>
            </a:r>
            <a:r>
              <a:rPr sz="1500" spc="-35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C3740"/>
                </a:solidFill>
                <a:latin typeface="Calibri"/>
                <a:cs typeface="Calibri"/>
              </a:rPr>
              <a:t>Attributes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324330" y="1180761"/>
            <a:ext cx="443865" cy="452755"/>
            <a:chOff x="6324330" y="1180761"/>
            <a:chExt cx="443865" cy="452755"/>
          </a:xfrm>
        </p:grpSpPr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24330" y="1180761"/>
              <a:ext cx="443451" cy="44337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72224" y="1219136"/>
              <a:ext cx="347662" cy="414337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353174" y="1190625"/>
              <a:ext cx="390525" cy="381000"/>
            </a:xfrm>
            <a:custGeom>
              <a:avLst/>
              <a:gdLst/>
              <a:ahLst/>
              <a:cxnLst/>
              <a:rect l="l" t="t" r="r" b="b"/>
              <a:pathLst>
                <a:path w="390525" h="381000">
                  <a:moveTo>
                    <a:pt x="195325" y="0"/>
                  </a:moveTo>
                  <a:lnTo>
                    <a:pt x="150516" y="5034"/>
                  </a:lnTo>
                  <a:lnTo>
                    <a:pt x="109394" y="19372"/>
                  </a:lnTo>
                  <a:lnTo>
                    <a:pt x="73128" y="41867"/>
                  </a:lnTo>
                  <a:lnTo>
                    <a:pt x="42887" y="71374"/>
                  </a:lnTo>
                  <a:lnTo>
                    <a:pt x="19840" y="106746"/>
                  </a:lnTo>
                  <a:lnTo>
                    <a:pt x="5154" y="146837"/>
                  </a:lnTo>
                  <a:lnTo>
                    <a:pt x="0" y="190500"/>
                  </a:lnTo>
                  <a:lnTo>
                    <a:pt x="5154" y="234162"/>
                  </a:lnTo>
                  <a:lnTo>
                    <a:pt x="19840" y="274253"/>
                  </a:lnTo>
                  <a:lnTo>
                    <a:pt x="42887" y="309625"/>
                  </a:lnTo>
                  <a:lnTo>
                    <a:pt x="73128" y="339132"/>
                  </a:lnTo>
                  <a:lnTo>
                    <a:pt x="109394" y="361627"/>
                  </a:lnTo>
                  <a:lnTo>
                    <a:pt x="150516" y="375965"/>
                  </a:lnTo>
                  <a:lnTo>
                    <a:pt x="195325" y="381000"/>
                  </a:lnTo>
                  <a:lnTo>
                    <a:pt x="240088" y="375965"/>
                  </a:lnTo>
                  <a:lnTo>
                    <a:pt x="281177" y="361627"/>
                  </a:lnTo>
                  <a:lnTo>
                    <a:pt x="317420" y="339132"/>
                  </a:lnTo>
                  <a:lnTo>
                    <a:pt x="347647" y="309625"/>
                  </a:lnTo>
                  <a:lnTo>
                    <a:pt x="370687" y="274253"/>
                  </a:lnTo>
                  <a:lnTo>
                    <a:pt x="385370" y="234162"/>
                  </a:lnTo>
                  <a:lnTo>
                    <a:pt x="390525" y="190500"/>
                  </a:lnTo>
                  <a:lnTo>
                    <a:pt x="385370" y="146837"/>
                  </a:lnTo>
                  <a:lnTo>
                    <a:pt x="370687" y="106746"/>
                  </a:lnTo>
                  <a:lnTo>
                    <a:pt x="347647" y="71374"/>
                  </a:lnTo>
                  <a:lnTo>
                    <a:pt x="317420" y="41867"/>
                  </a:lnTo>
                  <a:lnTo>
                    <a:pt x="281177" y="19372"/>
                  </a:lnTo>
                  <a:lnTo>
                    <a:pt x="240088" y="5034"/>
                  </a:lnTo>
                  <a:lnTo>
                    <a:pt x="195325" y="0"/>
                  </a:lnTo>
                  <a:close/>
                </a:path>
              </a:pathLst>
            </a:custGeom>
            <a:solidFill>
              <a:srgbClr val="1F8F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503669" y="1276286"/>
            <a:ext cx="9842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006208" y="1241361"/>
            <a:ext cx="209994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2C3740"/>
                </a:solidFill>
                <a:latin typeface="Calibri"/>
                <a:cs typeface="Calibri"/>
              </a:rPr>
              <a:t>Relationships</a:t>
            </a:r>
            <a:r>
              <a:rPr sz="1500" spc="-25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C3740"/>
                </a:solidFill>
                <a:latin typeface="Calibri"/>
                <a:cs typeface="Calibri"/>
              </a:rPr>
              <a:t>&amp;</a:t>
            </a:r>
            <a:r>
              <a:rPr sz="1500" spc="-75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C3740"/>
                </a:solidFill>
                <a:latin typeface="Calibri"/>
                <a:cs typeface="Calibri"/>
              </a:rPr>
              <a:t>Cardinality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324330" y="2018961"/>
            <a:ext cx="443865" cy="452755"/>
            <a:chOff x="6324330" y="2018961"/>
            <a:chExt cx="443865" cy="452755"/>
          </a:xfrm>
        </p:grpSpPr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24330" y="2018961"/>
              <a:ext cx="443451" cy="44337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72224" y="2057336"/>
              <a:ext cx="347662" cy="414337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6353174" y="2028824"/>
              <a:ext cx="390525" cy="381000"/>
            </a:xfrm>
            <a:custGeom>
              <a:avLst/>
              <a:gdLst/>
              <a:ahLst/>
              <a:cxnLst/>
              <a:rect l="l" t="t" r="r" b="b"/>
              <a:pathLst>
                <a:path w="390525" h="381000">
                  <a:moveTo>
                    <a:pt x="195325" y="0"/>
                  </a:moveTo>
                  <a:lnTo>
                    <a:pt x="150516" y="5034"/>
                  </a:lnTo>
                  <a:lnTo>
                    <a:pt x="109394" y="19372"/>
                  </a:lnTo>
                  <a:lnTo>
                    <a:pt x="73128" y="41867"/>
                  </a:lnTo>
                  <a:lnTo>
                    <a:pt x="42887" y="71374"/>
                  </a:lnTo>
                  <a:lnTo>
                    <a:pt x="19840" y="106746"/>
                  </a:lnTo>
                  <a:lnTo>
                    <a:pt x="5154" y="146837"/>
                  </a:lnTo>
                  <a:lnTo>
                    <a:pt x="0" y="190500"/>
                  </a:lnTo>
                  <a:lnTo>
                    <a:pt x="5154" y="234162"/>
                  </a:lnTo>
                  <a:lnTo>
                    <a:pt x="19840" y="274253"/>
                  </a:lnTo>
                  <a:lnTo>
                    <a:pt x="42887" y="309625"/>
                  </a:lnTo>
                  <a:lnTo>
                    <a:pt x="73128" y="339132"/>
                  </a:lnTo>
                  <a:lnTo>
                    <a:pt x="109394" y="361627"/>
                  </a:lnTo>
                  <a:lnTo>
                    <a:pt x="150516" y="375965"/>
                  </a:lnTo>
                  <a:lnTo>
                    <a:pt x="195325" y="381000"/>
                  </a:lnTo>
                  <a:lnTo>
                    <a:pt x="240088" y="375965"/>
                  </a:lnTo>
                  <a:lnTo>
                    <a:pt x="281177" y="361627"/>
                  </a:lnTo>
                  <a:lnTo>
                    <a:pt x="317420" y="339132"/>
                  </a:lnTo>
                  <a:lnTo>
                    <a:pt x="347647" y="309625"/>
                  </a:lnTo>
                  <a:lnTo>
                    <a:pt x="370687" y="274253"/>
                  </a:lnTo>
                  <a:lnTo>
                    <a:pt x="385370" y="234162"/>
                  </a:lnTo>
                  <a:lnTo>
                    <a:pt x="390525" y="190500"/>
                  </a:lnTo>
                  <a:lnTo>
                    <a:pt x="385370" y="146837"/>
                  </a:lnTo>
                  <a:lnTo>
                    <a:pt x="370687" y="106746"/>
                  </a:lnTo>
                  <a:lnTo>
                    <a:pt x="347647" y="71374"/>
                  </a:lnTo>
                  <a:lnTo>
                    <a:pt x="317420" y="41867"/>
                  </a:lnTo>
                  <a:lnTo>
                    <a:pt x="281177" y="19372"/>
                  </a:lnTo>
                  <a:lnTo>
                    <a:pt x="240088" y="5034"/>
                  </a:lnTo>
                  <a:lnTo>
                    <a:pt x="195325" y="0"/>
                  </a:lnTo>
                  <a:close/>
                </a:path>
              </a:pathLst>
            </a:custGeom>
            <a:solidFill>
              <a:srgbClr val="1F8F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6503669" y="2118677"/>
            <a:ext cx="9842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006208" y="2083752"/>
            <a:ext cx="220980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C3740"/>
                </a:solidFill>
                <a:latin typeface="Calibri"/>
                <a:cs typeface="Calibri"/>
              </a:rPr>
              <a:t>Relational Database</a:t>
            </a:r>
            <a:r>
              <a:rPr sz="1500" spc="-35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C3740"/>
                </a:solidFill>
                <a:latin typeface="Calibri"/>
                <a:cs typeface="Calibri"/>
              </a:rPr>
              <a:t>Schema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6324330" y="2857166"/>
            <a:ext cx="443865" cy="453390"/>
            <a:chOff x="6324330" y="2857166"/>
            <a:chExt cx="443865" cy="453390"/>
          </a:xfrm>
        </p:grpSpPr>
        <p:pic>
          <p:nvPicPr>
            <p:cNvPr id="52" name="object 5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24330" y="2857166"/>
              <a:ext cx="443451" cy="452886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372224" y="2905061"/>
              <a:ext cx="347662" cy="404812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6353174" y="2867024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195325" y="0"/>
                  </a:moveTo>
                  <a:lnTo>
                    <a:pt x="150516" y="5154"/>
                  </a:lnTo>
                  <a:lnTo>
                    <a:pt x="109394" y="19837"/>
                  </a:lnTo>
                  <a:lnTo>
                    <a:pt x="73128" y="42877"/>
                  </a:lnTo>
                  <a:lnTo>
                    <a:pt x="42887" y="73104"/>
                  </a:lnTo>
                  <a:lnTo>
                    <a:pt x="19840" y="109347"/>
                  </a:lnTo>
                  <a:lnTo>
                    <a:pt x="5154" y="150436"/>
                  </a:lnTo>
                  <a:lnTo>
                    <a:pt x="0" y="195199"/>
                  </a:lnTo>
                  <a:lnTo>
                    <a:pt x="5154" y="240008"/>
                  </a:lnTo>
                  <a:lnTo>
                    <a:pt x="19840" y="281130"/>
                  </a:lnTo>
                  <a:lnTo>
                    <a:pt x="42887" y="317396"/>
                  </a:lnTo>
                  <a:lnTo>
                    <a:pt x="73128" y="347637"/>
                  </a:lnTo>
                  <a:lnTo>
                    <a:pt x="109394" y="370684"/>
                  </a:lnTo>
                  <a:lnTo>
                    <a:pt x="150516" y="385370"/>
                  </a:lnTo>
                  <a:lnTo>
                    <a:pt x="195325" y="390525"/>
                  </a:lnTo>
                  <a:lnTo>
                    <a:pt x="240088" y="385370"/>
                  </a:lnTo>
                  <a:lnTo>
                    <a:pt x="281177" y="370684"/>
                  </a:lnTo>
                  <a:lnTo>
                    <a:pt x="317420" y="347637"/>
                  </a:lnTo>
                  <a:lnTo>
                    <a:pt x="347647" y="317396"/>
                  </a:lnTo>
                  <a:lnTo>
                    <a:pt x="370687" y="281130"/>
                  </a:lnTo>
                  <a:lnTo>
                    <a:pt x="385370" y="240008"/>
                  </a:lnTo>
                  <a:lnTo>
                    <a:pt x="390525" y="195199"/>
                  </a:lnTo>
                  <a:lnTo>
                    <a:pt x="385370" y="150436"/>
                  </a:lnTo>
                  <a:lnTo>
                    <a:pt x="370687" y="109347"/>
                  </a:lnTo>
                  <a:lnTo>
                    <a:pt x="347647" y="73104"/>
                  </a:lnTo>
                  <a:lnTo>
                    <a:pt x="317420" y="42877"/>
                  </a:lnTo>
                  <a:lnTo>
                    <a:pt x="281177" y="19837"/>
                  </a:lnTo>
                  <a:lnTo>
                    <a:pt x="240088" y="5154"/>
                  </a:lnTo>
                  <a:lnTo>
                    <a:pt x="195325" y="0"/>
                  </a:lnTo>
                  <a:close/>
                </a:path>
              </a:pathLst>
            </a:custGeom>
            <a:solidFill>
              <a:srgbClr val="1F8F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6503669" y="2961640"/>
            <a:ext cx="9842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006208" y="2926016"/>
            <a:ext cx="91059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2C3740"/>
                </a:solidFill>
                <a:latin typeface="Calibri"/>
                <a:cs typeface="Calibri"/>
              </a:rPr>
              <a:t>ER</a:t>
            </a:r>
            <a:r>
              <a:rPr sz="1500" spc="-35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C3740"/>
                </a:solidFill>
                <a:latin typeface="Calibri"/>
                <a:cs typeface="Calibri"/>
              </a:rPr>
              <a:t>Diagram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6324330" y="3704886"/>
            <a:ext cx="443865" cy="452755"/>
            <a:chOff x="6324330" y="3704886"/>
            <a:chExt cx="443865" cy="452755"/>
          </a:xfrm>
        </p:grpSpPr>
        <p:pic>
          <p:nvPicPr>
            <p:cNvPr id="58" name="object 5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24330" y="3704886"/>
              <a:ext cx="443451" cy="44337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372224" y="3743261"/>
              <a:ext cx="347662" cy="414337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6353174" y="3714749"/>
              <a:ext cx="390525" cy="381000"/>
            </a:xfrm>
            <a:custGeom>
              <a:avLst/>
              <a:gdLst/>
              <a:ahLst/>
              <a:cxnLst/>
              <a:rect l="l" t="t" r="r" b="b"/>
              <a:pathLst>
                <a:path w="390525" h="381000">
                  <a:moveTo>
                    <a:pt x="195325" y="0"/>
                  </a:moveTo>
                  <a:lnTo>
                    <a:pt x="150516" y="5034"/>
                  </a:lnTo>
                  <a:lnTo>
                    <a:pt x="109394" y="19372"/>
                  </a:lnTo>
                  <a:lnTo>
                    <a:pt x="73128" y="41867"/>
                  </a:lnTo>
                  <a:lnTo>
                    <a:pt x="42887" y="71374"/>
                  </a:lnTo>
                  <a:lnTo>
                    <a:pt x="19840" y="106746"/>
                  </a:lnTo>
                  <a:lnTo>
                    <a:pt x="5154" y="146837"/>
                  </a:lnTo>
                  <a:lnTo>
                    <a:pt x="0" y="190500"/>
                  </a:lnTo>
                  <a:lnTo>
                    <a:pt x="5154" y="234162"/>
                  </a:lnTo>
                  <a:lnTo>
                    <a:pt x="19840" y="274253"/>
                  </a:lnTo>
                  <a:lnTo>
                    <a:pt x="42887" y="309625"/>
                  </a:lnTo>
                  <a:lnTo>
                    <a:pt x="73128" y="339132"/>
                  </a:lnTo>
                  <a:lnTo>
                    <a:pt x="109394" y="361627"/>
                  </a:lnTo>
                  <a:lnTo>
                    <a:pt x="150516" y="375965"/>
                  </a:lnTo>
                  <a:lnTo>
                    <a:pt x="195325" y="381000"/>
                  </a:lnTo>
                  <a:lnTo>
                    <a:pt x="240088" y="375965"/>
                  </a:lnTo>
                  <a:lnTo>
                    <a:pt x="281177" y="361627"/>
                  </a:lnTo>
                  <a:lnTo>
                    <a:pt x="317420" y="339132"/>
                  </a:lnTo>
                  <a:lnTo>
                    <a:pt x="347647" y="309625"/>
                  </a:lnTo>
                  <a:lnTo>
                    <a:pt x="370687" y="274253"/>
                  </a:lnTo>
                  <a:lnTo>
                    <a:pt x="385370" y="234162"/>
                  </a:lnTo>
                  <a:lnTo>
                    <a:pt x="390525" y="190500"/>
                  </a:lnTo>
                  <a:lnTo>
                    <a:pt x="385370" y="146837"/>
                  </a:lnTo>
                  <a:lnTo>
                    <a:pt x="370687" y="106746"/>
                  </a:lnTo>
                  <a:lnTo>
                    <a:pt x="347647" y="71374"/>
                  </a:lnTo>
                  <a:lnTo>
                    <a:pt x="317420" y="41867"/>
                  </a:lnTo>
                  <a:lnTo>
                    <a:pt x="281177" y="19372"/>
                  </a:lnTo>
                  <a:lnTo>
                    <a:pt x="240088" y="5034"/>
                  </a:lnTo>
                  <a:lnTo>
                    <a:pt x="195325" y="0"/>
                  </a:lnTo>
                  <a:close/>
                </a:path>
              </a:pathLst>
            </a:custGeom>
            <a:solidFill>
              <a:srgbClr val="1F8F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6503669" y="3803904"/>
            <a:ext cx="9842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006208" y="3768407"/>
            <a:ext cx="244729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25" dirty="0">
                <a:solidFill>
                  <a:srgbClr val="2C3740"/>
                </a:solidFill>
                <a:latin typeface="Calibri"/>
                <a:cs typeface="Calibri"/>
              </a:rPr>
              <a:t>Team</a:t>
            </a:r>
            <a:r>
              <a:rPr sz="1500" spc="5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C3740"/>
                </a:solidFill>
                <a:latin typeface="Calibri"/>
                <a:cs typeface="Calibri"/>
              </a:rPr>
              <a:t>Responsibilities</a:t>
            </a:r>
            <a:r>
              <a:rPr sz="1500" spc="-50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C3740"/>
                </a:solidFill>
                <a:latin typeface="Calibri"/>
                <a:cs typeface="Calibri"/>
              </a:rPr>
              <a:t>&amp;</a:t>
            </a:r>
            <a:r>
              <a:rPr sz="1500" spc="30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C3740"/>
                </a:solidFill>
                <a:latin typeface="Calibri"/>
                <a:cs typeface="Calibri"/>
              </a:rPr>
              <a:t>GitHub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6324330" y="4505261"/>
            <a:ext cx="443865" cy="567055"/>
            <a:chOff x="6324330" y="4505261"/>
            <a:chExt cx="443865" cy="567055"/>
          </a:xfrm>
        </p:grpSpPr>
        <p:pic>
          <p:nvPicPr>
            <p:cNvPr id="64" name="object 6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24330" y="4543086"/>
              <a:ext cx="443451" cy="44337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372224" y="4505261"/>
              <a:ext cx="347662" cy="566737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6353174" y="4552949"/>
              <a:ext cx="390525" cy="381000"/>
            </a:xfrm>
            <a:custGeom>
              <a:avLst/>
              <a:gdLst/>
              <a:ahLst/>
              <a:cxnLst/>
              <a:rect l="l" t="t" r="r" b="b"/>
              <a:pathLst>
                <a:path w="390525" h="381000">
                  <a:moveTo>
                    <a:pt x="195325" y="0"/>
                  </a:moveTo>
                  <a:lnTo>
                    <a:pt x="150516" y="5034"/>
                  </a:lnTo>
                  <a:lnTo>
                    <a:pt x="109394" y="19372"/>
                  </a:lnTo>
                  <a:lnTo>
                    <a:pt x="73128" y="41867"/>
                  </a:lnTo>
                  <a:lnTo>
                    <a:pt x="42887" y="71374"/>
                  </a:lnTo>
                  <a:lnTo>
                    <a:pt x="19840" y="106746"/>
                  </a:lnTo>
                  <a:lnTo>
                    <a:pt x="5154" y="146837"/>
                  </a:lnTo>
                  <a:lnTo>
                    <a:pt x="0" y="190500"/>
                  </a:lnTo>
                  <a:lnTo>
                    <a:pt x="5154" y="234162"/>
                  </a:lnTo>
                  <a:lnTo>
                    <a:pt x="19840" y="274253"/>
                  </a:lnTo>
                  <a:lnTo>
                    <a:pt x="42887" y="309625"/>
                  </a:lnTo>
                  <a:lnTo>
                    <a:pt x="73128" y="339132"/>
                  </a:lnTo>
                  <a:lnTo>
                    <a:pt x="109394" y="361627"/>
                  </a:lnTo>
                  <a:lnTo>
                    <a:pt x="150516" y="375965"/>
                  </a:lnTo>
                  <a:lnTo>
                    <a:pt x="195325" y="381000"/>
                  </a:lnTo>
                  <a:lnTo>
                    <a:pt x="240088" y="375965"/>
                  </a:lnTo>
                  <a:lnTo>
                    <a:pt x="281177" y="361627"/>
                  </a:lnTo>
                  <a:lnTo>
                    <a:pt x="317420" y="339132"/>
                  </a:lnTo>
                  <a:lnTo>
                    <a:pt x="347647" y="309625"/>
                  </a:lnTo>
                  <a:lnTo>
                    <a:pt x="370687" y="274253"/>
                  </a:lnTo>
                  <a:lnTo>
                    <a:pt x="385370" y="234162"/>
                  </a:lnTo>
                  <a:lnTo>
                    <a:pt x="390525" y="190500"/>
                  </a:lnTo>
                  <a:lnTo>
                    <a:pt x="385370" y="146837"/>
                  </a:lnTo>
                  <a:lnTo>
                    <a:pt x="370687" y="106746"/>
                  </a:lnTo>
                  <a:lnTo>
                    <a:pt x="347647" y="71374"/>
                  </a:lnTo>
                  <a:lnTo>
                    <a:pt x="317420" y="41867"/>
                  </a:lnTo>
                  <a:lnTo>
                    <a:pt x="281177" y="19372"/>
                  </a:lnTo>
                  <a:lnTo>
                    <a:pt x="240088" y="5034"/>
                  </a:lnTo>
                  <a:lnTo>
                    <a:pt x="195325" y="0"/>
                  </a:lnTo>
                  <a:close/>
                </a:path>
              </a:pathLst>
            </a:custGeom>
            <a:solidFill>
              <a:srgbClr val="1F8F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6503669" y="4562475"/>
            <a:ext cx="98425" cy="3594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295"/>
              </a:lnSpc>
              <a:spcBef>
                <a:spcPts val="125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295"/>
              </a:lnSpc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006208" y="4611052"/>
            <a:ext cx="868044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C3740"/>
                </a:solidFill>
                <a:latin typeface="Calibri"/>
                <a:cs typeface="Calibri"/>
              </a:rPr>
              <a:t>Conclusion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536257" y="6460807"/>
            <a:ext cx="235521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677179"/>
                </a:solidFill>
                <a:latin typeface="Calibri"/>
                <a:cs typeface="Calibri"/>
              </a:rPr>
              <a:t>HOSPITAL</a:t>
            </a:r>
            <a:r>
              <a:rPr sz="750" spc="-35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677179"/>
                </a:solidFill>
                <a:latin typeface="Calibri"/>
                <a:cs typeface="Calibri"/>
              </a:rPr>
              <a:t>MANAGEMENT</a:t>
            </a:r>
            <a:r>
              <a:rPr sz="750" spc="-10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677179"/>
                </a:solidFill>
                <a:latin typeface="Calibri"/>
                <a:cs typeface="Calibri"/>
              </a:rPr>
              <a:t>SYSTEM</a:t>
            </a:r>
            <a:r>
              <a:rPr sz="750" spc="180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677179"/>
                </a:solidFill>
                <a:latin typeface="Calibri"/>
                <a:cs typeface="Calibri"/>
              </a:rPr>
              <a:t>•</a:t>
            </a:r>
            <a:r>
              <a:rPr sz="750" spc="220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677179"/>
                </a:solidFill>
                <a:latin typeface="Calibri"/>
                <a:cs typeface="Calibri"/>
              </a:rPr>
              <a:t>CAPSTONE</a:t>
            </a:r>
            <a:r>
              <a:rPr sz="750" spc="-15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677179"/>
                </a:solidFill>
                <a:latin typeface="Calibri"/>
                <a:cs typeface="Calibri"/>
              </a:rPr>
              <a:t>REVIEW</a:t>
            </a:r>
            <a:r>
              <a:rPr sz="750" spc="50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677179"/>
                </a:solidFill>
                <a:latin typeface="Calibri"/>
                <a:cs typeface="Calibri"/>
              </a:rPr>
              <a:t>–</a:t>
            </a:r>
            <a:r>
              <a:rPr sz="750" spc="10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750" spc="-50" dirty="0">
                <a:solidFill>
                  <a:srgbClr val="677179"/>
                </a:solidFill>
                <a:latin typeface="Calibri"/>
                <a:cs typeface="Calibri"/>
              </a:rPr>
              <a:t>I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1557634" y="6460807"/>
            <a:ext cx="7874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1" spc="-50" dirty="0">
                <a:solidFill>
                  <a:srgbClr val="677179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609587" y="846768"/>
            <a:ext cx="11025505" cy="101600"/>
            <a:chOff x="609587" y="846768"/>
            <a:chExt cx="11025505" cy="101600"/>
          </a:xfrm>
        </p:grpSpPr>
        <p:pic>
          <p:nvPicPr>
            <p:cNvPr id="72" name="object 7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09587" y="846768"/>
              <a:ext cx="11025275" cy="101500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638175" y="857250"/>
              <a:ext cx="10972800" cy="38100"/>
            </a:xfrm>
            <a:custGeom>
              <a:avLst/>
              <a:gdLst/>
              <a:ahLst/>
              <a:cxnLst/>
              <a:rect l="l" t="t" r="r" b="b"/>
              <a:pathLst>
                <a:path w="10972800" h="38100">
                  <a:moveTo>
                    <a:pt x="109728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0972800" y="38100"/>
                  </a:lnTo>
                  <a:lnTo>
                    <a:pt x="10972800" y="0"/>
                  </a:lnTo>
                  <a:close/>
                </a:path>
              </a:pathLst>
            </a:custGeom>
            <a:solidFill>
              <a:srgbClr val="3C7C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4635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130"/>
              </a:spcBef>
            </a:pPr>
            <a:r>
              <a:rPr spc="-220" dirty="0"/>
              <a:t>1.</a:t>
            </a:r>
            <a:r>
              <a:rPr spc="-270" dirty="0"/>
              <a:t> </a:t>
            </a:r>
            <a:r>
              <a:rPr spc="-114" dirty="0"/>
              <a:t>Introduction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61962" y="1065843"/>
            <a:ext cx="11025505" cy="101600"/>
            <a:chOff x="561962" y="1065843"/>
            <a:chExt cx="11025505" cy="101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1962" y="1065843"/>
              <a:ext cx="11025275" cy="1015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90550" y="1076325"/>
              <a:ext cx="10972800" cy="38100"/>
            </a:xfrm>
            <a:custGeom>
              <a:avLst/>
              <a:gdLst/>
              <a:ahLst/>
              <a:cxnLst/>
              <a:rect l="l" t="t" r="r" b="b"/>
              <a:pathLst>
                <a:path w="10972800" h="38100">
                  <a:moveTo>
                    <a:pt x="109728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0972800" y="38100"/>
                  </a:lnTo>
                  <a:lnTo>
                    <a:pt x="10972800" y="0"/>
                  </a:lnTo>
                  <a:close/>
                </a:path>
              </a:pathLst>
            </a:custGeom>
            <a:solidFill>
              <a:srgbClr val="3C7C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01687" y="1433512"/>
            <a:ext cx="10275570" cy="44170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20700" indent="219710">
              <a:lnSpc>
                <a:spcPct val="100400"/>
              </a:lnSpc>
              <a:spcBef>
                <a:spcPts val="90"/>
              </a:spcBef>
              <a:buChar char="•"/>
              <a:tabLst>
                <a:tab pos="232410" algn="l"/>
              </a:tabLst>
            </a:pPr>
            <a:r>
              <a:rPr sz="2400" dirty="0">
                <a:latin typeface="Calibri"/>
                <a:cs typeface="Calibri"/>
              </a:rPr>
              <a:t>Hospitals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handle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large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amounts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information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related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patients,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doctors, departments,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appointments,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admissions, </a:t>
            </a:r>
            <a:r>
              <a:rPr sz="2400" spc="-10" dirty="0">
                <a:latin typeface="Calibri"/>
                <a:cs typeface="Calibri"/>
              </a:rPr>
              <a:t>treatments,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prescriptions,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medicines, </a:t>
            </a:r>
            <a:r>
              <a:rPr sz="2400" dirty="0">
                <a:latin typeface="Calibri"/>
                <a:cs typeface="Calibri"/>
              </a:rPr>
              <a:t>rooms,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billing.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Font typeface="Calibri"/>
              <a:buChar char="•"/>
            </a:pPr>
            <a:endParaRPr sz="2400">
              <a:latin typeface="Calibri"/>
              <a:cs typeface="Calibri"/>
            </a:endParaRPr>
          </a:p>
          <a:p>
            <a:pPr marL="12700" marR="5080" indent="219710">
              <a:lnSpc>
                <a:spcPts val="2860"/>
              </a:lnSpc>
              <a:buChar char="•"/>
              <a:tabLst>
                <a:tab pos="23241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provides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efficient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way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organise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these </a:t>
            </a:r>
            <a:r>
              <a:rPr sz="2400" spc="-20" dirty="0">
                <a:latin typeface="Calibri"/>
                <a:cs typeface="Calibri"/>
              </a:rPr>
              <a:t>interconnected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hospital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records.</a:t>
            </a:r>
            <a:endParaRPr sz="2400">
              <a:latin typeface="Calibri"/>
              <a:cs typeface="Calibri"/>
            </a:endParaRPr>
          </a:p>
          <a:p>
            <a:pPr marL="232410" indent="-219710">
              <a:lnSpc>
                <a:spcPts val="2865"/>
              </a:lnSpc>
              <a:spcBef>
                <a:spcPts val="2805"/>
              </a:spcBef>
              <a:buChar char="•"/>
              <a:tabLst>
                <a:tab pos="23241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proposed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Hospital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Management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System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major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hospital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entities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65"/>
              </a:lnSpc>
            </a:pP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their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relationships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relational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database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approach.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400">
              <a:latin typeface="Calibri"/>
              <a:cs typeface="Calibri"/>
            </a:endParaRPr>
          </a:p>
          <a:p>
            <a:pPr marL="12700" marR="793115" indent="219710">
              <a:lnSpc>
                <a:spcPts val="2850"/>
              </a:lnSpc>
              <a:buChar char="•"/>
              <a:tabLst>
                <a:tab pos="23241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project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focuses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designing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structure,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including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entities, attributes,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Primary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Keys,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Foreign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Keys,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relationships,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diagram.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56975" y="6506209"/>
            <a:ext cx="9207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50" dirty="0">
                <a:solidFill>
                  <a:srgbClr val="5F6973"/>
                </a:solidFill>
                <a:latin typeface="Trebuchet MS"/>
                <a:cs typeface="Trebuchet MS"/>
              </a:rPr>
              <a:t>2</a:t>
            </a:r>
            <a:endParaRPr sz="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4635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130"/>
              </a:spcBef>
            </a:pPr>
            <a:r>
              <a:rPr spc="-220" dirty="0"/>
              <a:t>2.</a:t>
            </a:r>
            <a:r>
              <a:rPr spc="-250" dirty="0"/>
              <a:t> </a:t>
            </a:r>
            <a:r>
              <a:rPr spc="-100" dirty="0"/>
              <a:t>Problem</a:t>
            </a:r>
            <a:r>
              <a:rPr spc="-290" dirty="0"/>
              <a:t> </a:t>
            </a:r>
            <a:r>
              <a:rPr spc="-70" dirty="0"/>
              <a:t>Statement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61962" y="1065843"/>
            <a:ext cx="11025505" cy="101600"/>
            <a:chOff x="561962" y="1065843"/>
            <a:chExt cx="11025505" cy="101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1962" y="1065843"/>
              <a:ext cx="11025275" cy="1015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90550" y="1076325"/>
              <a:ext cx="10972800" cy="38100"/>
            </a:xfrm>
            <a:custGeom>
              <a:avLst/>
              <a:gdLst/>
              <a:ahLst/>
              <a:cxnLst/>
              <a:rect l="l" t="t" r="r" b="b"/>
              <a:pathLst>
                <a:path w="10972800" h="38100">
                  <a:moveTo>
                    <a:pt x="109728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0972800" y="38100"/>
                  </a:lnTo>
                  <a:lnTo>
                    <a:pt x="10972800" y="0"/>
                  </a:lnTo>
                  <a:close/>
                </a:path>
              </a:pathLst>
            </a:custGeom>
            <a:solidFill>
              <a:srgbClr val="3C7C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02335" y="1291653"/>
            <a:ext cx="9963150" cy="47885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405130" indent="219710">
              <a:lnSpc>
                <a:spcPct val="100400"/>
              </a:lnSpc>
              <a:spcBef>
                <a:spcPts val="90"/>
              </a:spcBef>
              <a:buChar char="•"/>
              <a:tabLst>
                <a:tab pos="232410" algn="l"/>
              </a:tabLst>
            </a:pPr>
            <a:r>
              <a:rPr sz="2400" dirty="0">
                <a:latin typeface="Calibri"/>
                <a:cs typeface="Calibri"/>
              </a:rPr>
              <a:t>Hospitals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large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amounts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patients, </a:t>
            </a:r>
            <a:r>
              <a:rPr sz="2400" dirty="0">
                <a:latin typeface="Calibri"/>
                <a:cs typeface="Calibri"/>
              </a:rPr>
              <a:t>doctors,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departments,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appointments,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admissions,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treatments,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prescriptions, </a:t>
            </a:r>
            <a:r>
              <a:rPr sz="2400" dirty="0">
                <a:latin typeface="Calibri"/>
                <a:cs typeface="Calibri"/>
              </a:rPr>
              <a:t>medicines,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rooms,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billing.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Font typeface="Calibri"/>
              <a:buChar char="•"/>
            </a:pPr>
            <a:endParaRPr sz="2400">
              <a:latin typeface="Calibri"/>
              <a:cs typeface="Calibri"/>
            </a:endParaRPr>
          </a:p>
          <a:p>
            <a:pPr marL="12700" marR="61594" indent="219710">
              <a:lnSpc>
                <a:spcPts val="2860"/>
              </a:lnSpc>
              <a:buChar char="•"/>
              <a:tabLst>
                <a:tab pos="232410" algn="l"/>
              </a:tabLst>
            </a:pPr>
            <a:r>
              <a:rPr sz="2400" dirty="0">
                <a:latin typeface="Calibri"/>
                <a:cs typeface="Calibri"/>
              </a:rPr>
              <a:t>Managing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records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separately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duplication,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inconsistency, </a:t>
            </a:r>
            <a:r>
              <a:rPr sz="2400" dirty="0">
                <a:latin typeface="Calibri"/>
                <a:cs typeface="Calibri"/>
              </a:rPr>
              <a:t>difficulty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retrieving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information,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errors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maintaining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patient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records.</a:t>
            </a:r>
            <a:endParaRPr sz="2400">
              <a:latin typeface="Calibri"/>
              <a:cs typeface="Calibri"/>
            </a:endParaRPr>
          </a:p>
          <a:p>
            <a:pPr marL="12700" marR="5080" indent="219710" algn="just">
              <a:lnSpc>
                <a:spcPct val="100400"/>
              </a:lnSpc>
              <a:spcBef>
                <a:spcPts val="2795"/>
              </a:spcBef>
              <a:buChar char="•"/>
              <a:tabLst>
                <a:tab pos="23241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project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aims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design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relational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Hospital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Management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connects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records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through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well-</a:t>
            </a:r>
            <a:r>
              <a:rPr sz="2400" dirty="0">
                <a:latin typeface="Calibri"/>
                <a:cs typeface="Calibri"/>
              </a:rPr>
              <a:t>defined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entities,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relationships, Primary </a:t>
            </a:r>
            <a:r>
              <a:rPr sz="2400" dirty="0">
                <a:latin typeface="Calibri"/>
                <a:cs typeface="Calibri"/>
              </a:rPr>
              <a:t>Keys,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Foreign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Keys.</a:t>
            </a:r>
            <a:endParaRPr sz="2400">
              <a:latin typeface="Calibri"/>
              <a:cs typeface="Calibri"/>
            </a:endParaRPr>
          </a:p>
          <a:p>
            <a:pPr marL="12700" marR="788670" indent="219710">
              <a:lnSpc>
                <a:spcPct val="101699"/>
              </a:lnSpc>
              <a:spcBef>
                <a:spcPts val="2775"/>
              </a:spcBef>
              <a:buChar char="•"/>
              <a:tabLst>
                <a:tab pos="23241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provide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design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efficiently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store, </a:t>
            </a:r>
            <a:r>
              <a:rPr sz="2400" dirty="0">
                <a:latin typeface="Calibri"/>
                <a:cs typeface="Calibri"/>
              </a:rPr>
              <a:t>manage,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retrieve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hospital-related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information.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56975" y="6506209"/>
            <a:ext cx="9207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50" dirty="0">
                <a:solidFill>
                  <a:srgbClr val="5F6973"/>
                </a:solidFill>
                <a:latin typeface="Trebuchet MS"/>
                <a:cs typeface="Trebuchet MS"/>
              </a:rPr>
              <a:t>3</a:t>
            </a:r>
            <a:endParaRPr sz="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4635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130"/>
              </a:spcBef>
            </a:pPr>
            <a:r>
              <a:rPr spc="-220" dirty="0"/>
              <a:t>3.</a:t>
            </a:r>
            <a:r>
              <a:rPr spc="-270" dirty="0"/>
              <a:t> </a:t>
            </a:r>
            <a:r>
              <a:rPr spc="-90" dirty="0"/>
              <a:t>Objectives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61962" y="1065843"/>
            <a:ext cx="11025505" cy="101600"/>
            <a:chOff x="561962" y="1065843"/>
            <a:chExt cx="11025505" cy="101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1962" y="1065843"/>
              <a:ext cx="11025275" cy="1015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90550" y="1076325"/>
              <a:ext cx="10972800" cy="38100"/>
            </a:xfrm>
            <a:custGeom>
              <a:avLst/>
              <a:gdLst/>
              <a:ahLst/>
              <a:cxnLst/>
              <a:rect l="l" t="t" r="r" b="b"/>
              <a:pathLst>
                <a:path w="10972800" h="38100">
                  <a:moveTo>
                    <a:pt x="109728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0972800" y="38100"/>
                  </a:lnTo>
                  <a:lnTo>
                    <a:pt x="10972800" y="0"/>
                  </a:lnTo>
                  <a:close/>
                </a:path>
              </a:pathLst>
            </a:custGeom>
            <a:solidFill>
              <a:srgbClr val="3C7C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02335" y="1451673"/>
            <a:ext cx="7844790" cy="4153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100"/>
              </a:spcBef>
              <a:buChar char="•"/>
              <a:tabLst>
                <a:tab pos="180340" algn="l"/>
              </a:tabLst>
            </a:pPr>
            <a:r>
              <a:rPr sz="1800" dirty="0">
                <a:latin typeface="Calibri"/>
                <a:cs typeface="Calibri"/>
              </a:rPr>
              <a:t>Identify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major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entities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involved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hospital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management.</a:t>
            </a:r>
            <a:endParaRPr sz="1800">
              <a:latin typeface="Calibri"/>
              <a:cs typeface="Calibri"/>
            </a:endParaRPr>
          </a:p>
          <a:p>
            <a:pPr marL="180340" indent="-167640">
              <a:lnSpc>
                <a:spcPct val="100000"/>
              </a:lnSpc>
              <a:spcBef>
                <a:spcPts val="2195"/>
              </a:spcBef>
              <a:buChar char="•"/>
              <a:tabLst>
                <a:tab pos="180340" algn="l"/>
              </a:tabLst>
            </a:pPr>
            <a:r>
              <a:rPr sz="1800" dirty="0">
                <a:latin typeface="Calibri"/>
                <a:cs typeface="Calibri"/>
              </a:rPr>
              <a:t>Identify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suitable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attributes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entity.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Calibri"/>
              <a:buChar char="•"/>
            </a:pPr>
            <a:endParaRPr sz="1800">
              <a:latin typeface="Calibri"/>
              <a:cs typeface="Calibri"/>
            </a:endParaRPr>
          </a:p>
          <a:p>
            <a:pPr marL="180340" indent="-167640">
              <a:lnSpc>
                <a:spcPct val="100000"/>
              </a:lnSpc>
              <a:buChar char="•"/>
              <a:tabLst>
                <a:tab pos="180340" algn="l"/>
              </a:tabLst>
            </a:pPr>
            <a:r>
              <a:rPr sz="1800" spc="-10" dirty="0">
                <a:latin typeface="Calibri"/>
                <a:cs typeface="Calibri"/>
              </a:rPr>
              <a:t>Establish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relationships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between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identified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entities.</a:t>
            </a:r>
            <a:endParaRPr sz="1800">
              <a:latin typeface="Calibri"/>
              <a:cs typeface="Calibri"/>
            </a:endParaRPr>
          </a:p>
          <a:p>
            <a:pPr marL="180340" indent="-167640">
              <a:lnSpc>
                <a:spcPct val="100000"/>
              </a:lnSpc>
              <a:spcBef>
                <a:spcPts val="2120"/>
              </a:spcBef>
              <a:buChar char="•"/>
              <a:tabLst>
                <a:tab pos="180340" algn="l"/>
              </a:tabLst>
            </a:pPr>
            <a:r>
              <a:rPr sz="1800" dirty="0">
                <a:latin typeface="Calibri"/>
                <a:cs typeface="Calibri"/>
              </a:rPr>
              <a:t>Design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Entity–</a:t>
            </a:r>
            <a:r>
              <a:rPr sz="1800" dirty="0">
                <a:latin typeface="Calibri"/>
                <a:cs typeface="Calibri"/>
              </a:rPr>
              <a:t>Relationship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(ER)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diagram.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Calibri"/>
              <a:buChar char="•"/>
            </a:pPr>
            <a:endParaRPr sz="1800">
              <a:latin typeface="Calibri"/>
              <a:cs typeface="Calibri"/>
            </a:endParaRPr>
          </a:p>
          <a:p>
            <a:pPr marL="180340" indent="-167640">
              <a:lnSpc>
                <a:spcPct val="100000"/>
              </a:lnSpc>
              <a:buChar char="•"/>
              <a:tabLst>
                <a:tab pos="180340" algn="l"/>
              </a:tabLst>
            </a:pPr>
            <a:r>
              <a:rPr sz="1800" dirty="0">
                <a:latin typeface="Calibri"/>
                <a:cs typeface="Calibri"/>
              </a:rPr>
              <a:t>Convert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ER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relational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schema.</a:t>
            </a:r>
            <a:endParaRPr sz="1800">
              <a:latin typeface="Calibri"/>
              <a:cs typeface="Calibri"/>
            </a:endParaRPr>
          </a:p>
          <a:p>
            <a:pPr marL="180340" indent="-167640">
              <a:lnSpc>
                <a:spcPct val="100000"/>
              </a:lnSpc>
              <a:spcBef>
                <a:spcPts val="2120"/>
              </a:spcBef>
              <a:buChar char="•"/>
              <a:tabLst>
                <a:tab pos="180340" algn="l"/>
              </a:tabLst>
            </a:pPr>
            <a:r>
              <a:rPr sz="1800" dirty="0">
                <a:latin typeface="Calibri"/>
                <a:cs typeface="Calibri"/>
              </a:rPr>
              <a:t>Identify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suitable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Primary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Keys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Foreign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Keys.</a:t>
            </a:r>
            <a:endParaRPr sz="1800">
              <a:latin typeface="Calibri"/>
              <a:cs typeface="Calibri"/>
            </a:endParaRPr>
          </a:p>
          <a:p>
            <a:pPr marL="180340" indent="-167640">
              <a:lnSpc>
                <a:spcPct val="100000"/>
              </a:lnSpc>
              <a:spcBef>
                <a:spcPts val="2195"/>
              </a:spcBef>
              <a:buChar char="•"/>
              <a:tabLst>
                <a:tab pos="180340" algn="l"/>
              </a:tabLst>
            </a:pPr>
            <a:r>
              <a:rPr sz="1800" dirty="0">
                <a:latin typeface="Calibri"/>
                <a:cs typeface="Calibri"/>
              </a:rPr>
              <a:t>Reduce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duplication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maintain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consistency.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Calibri"/>
              <a:buChar char="•"/>
            </a:pPr>
            <a:endParaRPr sz="1800">
              <a:latin typeface="Calibri"/>
              <a:cs typeface="Calibri"/>
            </a:endParaRPr>
          </a:p>
          <a:p>
            <a:pPr marL="180340" indent="-167640">
              <a:lnSpc>
                <a:spcPct val="100000"/>
              </a:lnSpc>
              <a:buChar char="•"/>
              <a:tabLst>
                <a:tab pos="180340" algn="l"/>
              </a:tabLst>
            </a:pPr>
            <a:r>
              <a:rPr sz="1800" spc="-10" dirty="0">
                <a:latin typeface="Calibri"/>
                <a:cs typeface="Calibri"/>
              </a:rPr>
              <a:t>Provide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organized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</a:t>
            </a:r>
            <a:r>
              <a:rPr sz="1800" spc="-10" dirty="0">
                <a:latin typeface="Calibri"/>
                <a:cs typeface="Calibri"/>
              </a:rPr>
              <a:t> structure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efficient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hospital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record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management.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56975" y="6506209"/>
            <a:ext cx="9207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50" dirty="0">
                <a:solidFill>
                  <a:srgbClr val="5F6973"/>
                </a:solidFill>
                <a:latin typeface="Trebuchet MS"/>
                <a:cs typeface="Trebuchet MS"/>
              </a:rPr>
              <a:t>4</a:t>
            </a:r>
            <a:endParaRPr sz="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373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20" dirty="0"/>
              <a:t>4.</a:t>
            </a:r>
            <a:r>
              <a:rPr spc="-260" dirty="0"/>
              <a:t> </a:t>
            </a:r>
            <a:r>
              <a:rPr spc="-40" dirty="0"/>
              <a:t>System</a:t>
            </a:r>
            <a:r>
              <a:rPr spc="-220" dirty="0"/>
              <a:t> </a:t>
            </a:r>
            <a:r>
              <a:rPr spc="-10" dirty="0"/>
              <a:t>Scope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33400" y="990536"/>
            <a:ext cx="5348605" cy="871855"/>
            <a:chOff x="533400" y="990536"/>
            <a:chExt cx="5348605" cy="8718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1950" y="1018957"/>
              <a:ext cx="5319825" cy="83369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95312" y="1033526"/>
              <a:ext cx="5258435" cy="762000"/>
            </a:xfrm>
            <a:custGeom>
              <a:avLst/>
              <a:gdLst/>
              <a:ahLst/>
              <a:cxnLst/>
              <a:rect l="l" t="t" r="r" b="b"/>
              <a:pathLst>
                <a:path w="5258435" h="762000">
                  <a:moveTo>
                    <a:pt x="5130863" y="0"/>
                  </a:moveTo>
                  <a:lnTo>
                    <a:pt x="127000" y="0"/>
                  </a:lnTo>
                  <a:lnTo>
                    <a:pt x="77565" y="9967"/>
                  </a:lnTo>
                  <a:lnTo>
                    <a:pt x="37196" y="37163"/>
                  </a:lnTo>
                  <a:lnTo>
                    <a:pt x="9980" y="77527"/>
                  </a:lnTo>
                  <a:lnTo>
                    <a:pt x="0" y="127000"/>
                  </a:lnTo>
                  <a:lnTo>
                    <a:pt x="0" y="634873"/>
                  </a:lnTo>
                  <a:lnTo>
                    <a:pt x="9980" y="684365"/>
                  </a:lnTo>
                  <a:lnTo>
                    <a:pt x="37196" y="724773"/>
                  </a:lnTo>
                  <a:lnTo>
                    <a:pt x="77565" y="752012"/>
                  </a:lnTo>
                  <a:lnTo>
                    <a:pt x="127000" y="762000"/>
                  </a:lnTo>
                  <a:lnTo>
                    <a:pt x="5130863" y="762000"/>
                  </a:lnTo>
                  <a:lnTo>
                    <a:pt x="5180282" y="752012"/>
                  </a:lnTo>
                  <a:lnTo>
                    <a:pt x="5220652" y="724773"/>
                  </a:lnTo>
                  <a:lnTo>
                    <a:pt x="5247878" y="684365"/>
                  </a:lnTo>
                  <a:lnTo>
                    <a:pt x="5257863" y="634873"/>
                  </a:lnTo>
                  <a:lnTo>
                    <a:pt x="5257863" y="127000"/>
                  </a:lnTo>
                  <a:lnTo>
                    <a:pt x="5247878" y="77527"/>
                  </a:lnTo>
                  <a:lnTo>
                    <a:pt x="5220652" y="37163"/>
                  </a:lnTo>
                  <a:lnTo>
                    <a:pt x="5180282" y="9967"/>
                  </a:lnTo>
                  <a:lnTo>
                    <a:pt x="5130863" y="0"/>
                  </a:lnTo>
                  <a:close/>
                </a:path>
              </a:pathLst>
            </a:custGeom>
            <a:solidFill>
              <a:srgbClr val="F8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5312" y="1033526"/>
              <a:ext cx="5258435" cy="762000"/>
            </a:xfrm>
            <a:custGeom>
              <a:avLst/>
              <a:gdLst/>
              <a:ahLst/>
              <a:cxnLst/>
              <a:rect l="l" t="t" r="r" b="b"/>
              <a:pathLst>
                <a:path w="5258435" h="762000">
                  <a:moveTo>
                    <a:pt x="0" y="127000"/>
                  </a:moveTo>
                  <a:lnTo>
                    <a:pt x="9980" y="77527"/>
                  </a:lnTo>
                  <a:lnTo>
                    <a:pt x="37196" y="37163"/>
                  </a:lnTo>
                  <a:lnTo>
                    <a:pt x="77565" y="9967"/>
                  </a:lnTo>
                  <a:lnTo>
                    <a:pt x="127000" y="0"/>
                  </a:lnTo>
                  <a:lnTo>
                    <a:pt x="5130863" y="0"/>
                  </a:lnTo>
                  <a:lnTo>
                    <a:pt x="5180282" y="9967"/>
                  </a:lnTo>
                  <a:lnTo>
                    <a:pt x="5220652" y="37163"/>
                  </a:lnTo>
                  <a:lnTo>
                    <a:pt x="5247878" y="77527"/>
                  </a:lnTo>
                  <a:lnTo>
                    <a:pt x="5257863" y="127000"/>
                  </a:lnTo>
                  <a:lnTo>
                    <a:pt x="5257863" y="634873"/>
                  </a:lnTo>
                  <a:lnTo>
                    <a:pt x="5247878" y="684365"/>
                  </a:lnTo>
                  <a:lnTo>
                    <a:pt x="5220652" y="724773"/>
                  </a:lnTo>
                  <a:lnTo>
                    <a:pt x="5180282" y="752012"/>
                  </a:lnTo>
                  <a:lnTo>
                    <a:pt x="5130863" y="762000"/>
                  </a:lnTo>
                  <a:lnTo>
                    <a:pt x="127000" y="762000"/>
                  </a:lnTo>
                  <a:lnTo>
                    <a:pt x="77565" y="752012"/>
                  </a:lnTo>
                  <a:lnTo>
                    <a:pt x="37196" y="724773"/>
                  </a:lnTo>
                  <a:lnTo>
                    <a:pt x="9980" y="684365"/>
                  </a:lnTo>
                  <a:lnTo>
                    <a:pt x="0" y="634873"/>
                  </a:lnTo>
                  <a:lnTo>
                    <a:pt x="0" y="127000"/>
                  </a:lnTo>
                  <a:close/>
                </a:path>
              </a:pathLst>
            </a:custGeom>
            <a:ln w="9525">
              <a:solidFill>
                <a:srgbClr val="D2E1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400" y="990536"/>
              <a:ext cx="176212" cy="87153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90550" y="1028700"/>
              <a:ext cx="66675" cy="762000"/>
            </a:xfrm>
            <a:custGeom>
              <a:avLst/>
              <a:gdLst/>
              <a:ahLst/>
              <a:cxnLst/>
              <a:rect l="l" t="t" r="r" b="b"/>
              <a:pathLst>
                <a:path w="66675" h="762000">
                  <a:moveTo>
                    <a:pt x="66675" y="0"/>
                  </a:moveTo>
                  <a:lnTo>
                    <a:pt x="0" y="0"/>
                  </a:lnTo>
                  <a:lnTo>
                    <a:pt x="0" y="762000"/>
                  </a:lnTo>
                  <a:lnTo>
                    <a:pt x="66675" y="76200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1F8F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38200" y="1079151"/>
            <a:ext cx="2183765" cy="55880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550" b="1" spc="-10" dirty="0">
                <a:solidFill>
                  <a:srgbClr val="133755"/>
                </a:solidFill>
                <a:latin typeface="Calibri"/>
                <a:cs typeface="Calibri"/>
              </a:rPr>
              <a:t>PATIENT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050" dirty="0">
                <a:solidFill>
                  <a:srgbClr val="677179"/>
                </a:solidFill>
                <a:latin typeface="Calibri"/>
                <a:cs typeface="Calibri"/>
              </a:rPr>
              <a:t>Patient details</a:t>
            </a:r>
            <a:r>
              <a:rPr sz="1050" spc="15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77179"/>
                </a:solidFill>
                <a:latin typeface="Calibri"/>
                <a:cs typeface="Calibri"/>
              </a:rPr>
              <a:t>and</a:t>
            </a:r>
            <a:r>
              <a:rPr sz="1050" spc="-50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77179"/>
                </a:solidFill>
                <a:latin typeface="Calibri"/>
                <a:cs typeface="Calibri"/>
              </a:rPr>
              <a:t>contact </a:t>
            </a:r>
            <a:r>
              <a:rPr sz="1050" spc="-10" dirty="0">
                <a:solidFill>
                  <a:srgbClr val="677179"/>
                </a:solidFill>
                <a:latin typeface="Calibri"/>
                <a:cs typeface="Calibri"/>
              </a:rPr>
              <a:t>information.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62675" y="990536"/>
            <a:ext cx="5348605" cy="871855"/>
            <a:chOff x="6162675" y="990536"/>
            <a:chExt cx="5348605" cy="87185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91225" y="1018957"/>
              <a:ext cx="5319825" cy="83369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224651" y="1033526"/>
              <a:ext cx="5257800" cy="762000"/>
            </a:xfrm>
            <a:custGeom>
              <a:avLst/>
              <a:gdLst/>
              <a:ahLst/>
              <a:cxnLst/>
              <a:rect l="l" t="t" r="r" b="b"/>
              <a:pathLst>
                <a:path w="5257800" h="762000">
                  <a:moveTo>
                    <a:pt x="5130800" y="0"/>
                  </a:moveTo>
                  <a:lnTo>
                    <a:pt x="127000" y="0"/>
                  </a:lnTo>
                  <a:lnTo>
                    <a:pt x="77527" y="9967"/>
                  </a:lnTo>
                  <a:lnTo>
                    <a:pt x="37163" y="37163"/>
                  </a:lnTo>
                  <a:lnTo>
                    <a:pt x="9967" y="77527"/>
                  </a:lnTo>
                  <a:lnTo>
                    <a:pt x="0" y="127000"/>
                  </a:lnTo>
                  <a:lnTo>
                    <a:pt x="0" y="634873"/>
                  </a:lnTo>
                  <a:lnTo>
                    <a:pt x="9967" y="684365"/>
                  </a:lnTo>
                  <a:lnTo>
                    <a:pt x="37163" y="724773"/>
                  </a:lnTo>
                  <a:lnTo>
                    <a:pt x="77527" y="752012"/>
                  </a:lnTo>
                  <a:lnTo>
                    <a:pt x="127000" y="762000"/>
                  </a:lnTo>
                  <a:lnTo>
                    <a:pt x="5130800" y="762000"/>
                  </a:lnTo>
                  <a:lnTo>
                    <a:pt x="5180218" y="752012"/>
                  </a:lnTo>
                  <a:lnTo>
                    <a:pt x="5220589" y="724773"/>
                  </a:lnTo>
                  <a:lnTo>
                    <a:pt x="5247814" y="684365"/>
                  </a:lnTo>
                  <a:lnTo>
                    <a:pt x="5257800" y="634873"/>
                  </a:lnTo>
                  <a:lnTo>
                    <a:pt x="5257800" y="127000"/>
                  </a:lnTo>
                  <a:lnTo>
                    <a:pt x="5247814" y="77527"/>
                  </a:lnTo>
                  <a:lnTo>
                    <a:pt x="5220589" y="37163"/>
                  </a:lnTo>
                  <a:lnTo>
                    <a:pt x="5180218" y="9967"/>
                  </a:lnTo>
                  <a:lnTo>
                    <a:pt x="5130800" y="0"/>
                  </a:lnTo>
                  <a:close/>
                </a:path>
              </a:pathLst>
            </a:custGeom>
            <a:solidFill>
              <a:srgbClr val="F8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24651" y="1033526"/>
              <a:ext cx="5257800" cy="762000"/>
            </a:xfrm>
            <a:custGeom>
              <a:avLst/>
              <a:gdLst/>
              <a:ahLst/>
              <a:cxnLst/>
              <a:rect l="l" t="t" r="r" b="b"/>
              <a:pathLst>
                <a:path w="5257800" h="762000">
                  <a:moveTo>
                    <a:pt x="0" y="127000"/>
                  </a:moveTo>
                  <a:lnTo>
                    <a:pt x="9967" y="77527"/>
                  </a:lnTo>
                  <a:lnTo>
                    <a:pt x="37163" y="37163"/>
                  </a:lnTo>
                  <a:lnTo>
                    <a:pt x="77527" y="9967"/>
                  </a:lnTo>
                  <a:lnTo>
                    <a:pt x="127000" y="0"/>
                  </a:lnTo>
                  <a:lnTo>
                    <a:pt x="5130800" y="0"/>
                  </a:lnTo>
                  <a:lnTo>
                    <a:pt x="5180218" y="9967"/>
                  </a:lnTo>
                  <a:lnTo>
                    <a:pt x="5220589" y="37163"/>
                  </a:lnTo>
                  <a:lnTo>
                    <a:pt x="5247814" y="77527"/>
                  </a:lnTo>
                  <a:lnTo>
                    <a:pt x="5257800" y="127000"/>
                  </a:lnTo>
                  <a:lnTo>
                    <a:pt x="5257800" y="634873"/>
                  </a:lnTo>
                  <a:lnTo>
                    <a:pt x="5247814" y="684365"/>
                  </a:lnTo>
                  <a:lnTo>
                    <a:pt x="5220589" y="724773"/>
                  </a:lnTo>
                  <a:lnTo>
                    <a:pt x="5180218" y="752012"/>
                  </a:lnTo>
                  <a:lnTo>
                    <a:pt x="5130800" y="762000"/>
                  </a:lnTo>
                  <a:lnTo>
                    <a:pt x="127000" y="762000"/>
                  </a:lnTo>
                  <a:lnTo>
                    <a:pt x="77527" y="752012"/>
                  </a:lnTo>
                  <a:lnTo>
                    <a:pt x="37163" y="724773"/>
                  </a:lnTo>
                  <a:lnTo>
                    <a:pt x="9967" y="684365"/>
                  </a:lnTo>
                  <a:lnTo>
                    <a:pt x="0" y="634873"/>
                  </a:lnTo>
                  <a:lnTo>
                    <a:pt x="0" y="127000"/>
                  </a:lnTo>
                  <a:close/>
                </a:path>
              </a:pathLst>
            </a:custGeom>
            <a:ln w="9525">
              <a:solidFill>
                <a:srgbClr val="D2E1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62675" y="990536"/>
              <a:ext cx="176212" cy="87153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219825" y="1028700"/>
              <a:ext cx="66675" cy="762000"/>
            </a:xfrm>
            <a:custGeom>
              <a:avLst/>
              <a:gdLst/>
              <a:ahLst/>
              <a:cxnLst/>
              <a:rect l="l" t="t" r="r" b="b"/>
              <a:pathLst>
                <a:path w="66675" h="762000">
                  <a:moveTo>
                    <a:pt x="66675" y="0"/>
                  </a:moveTo>
                  <a:lnTo>
                    <a:pt x="0" y="0"/>
                  </a:lnTo>
                  <a:lnTo>
                    <a:pt x="0" y="762000"/>
                  </a:lnTo>
                  <a:lnTo>
                    <a:pt x="66675" y="76200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2F6C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466204" y="1079151"/>
            <a:ext cx="2513965" cy="55880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550" b="1" spc="-10" dirty="0">
                <a:solidFill>
                  <a:srgbClr val="133755"/>
                </a:solidFill>
                <a:latin typeface="Calibri"/>
                <a:cs typeface="Calibri"/>
              </a:rPr>
              <a:t>DOCTOR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050" dirty="0">
                <a:solidFill>
                  <a:srgbClr val="677179"/>
                </a:solidFill>
                <a:latin typeface="Calibri"/>
                <a:cs typeface="Calibri"/>
              </a:rPr>
              <a:t>Doctor</a:t>
            </a:r>
            <a:r>
              <a:rPr sz="1050" spc="-60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77179"/>
                </a:solidFill>
                <a:latin typeface="Calibri"/>
                <a:cs typeface="Calibri"/>
              </a:rPr>
              <a:t>profile,</a:t>
            </a:r>
            <a:r>
              <a:rPr sz="1050" spc="-35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77179"/>
                </a:solidFill>
                <a:latin typeface="Calibri"/>
                <a:cs typeface="Calibri"/>
              </a:rPr>
              <a:t>specialization</a:t>
            </a:r>
            <a:r>
              <a:rPr sz="1050" spc="-20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77179"/>
                </a:solidFill>
                <a:latin typeface="Calibri"/>
                <a:cs typeface="Calibri"/>
              </a:rPr>
              <a:t>and</a:t>
            </a:r>
            <a:r>
              <a:rPr sz="1050" spc="-55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77179"/>
                </a:solidFill>
                <a:latin typeface="Calibri"/>
                <a:cs typeface="Calibri"/>
              </a:rPr>
              <a:t>department.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33400" y="1971611"/>
            <a:ext cx="5348605" cy="881380"/>
            <a:chOff x="533400" y="1971611"/>
            <a:chExt cx="5348605" cy="881380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1950" y="2000034"/>
              <a:ext cx="5319825" cy="84321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95312" y="2014600"/>
              <a:ext cx="5258435" cy="771525"/>
            </a:xfrm>
            <a:custGeom>
              <a:avLst/>
              <a:gdLst/>
              <a:ahLst/>
              <a:cxnLst/>
              <a:rect l="l" t="t" r="r" b="b"/>
              <a:pathLst>
                <a:path w="5258435" h="771525">
                  <a:moveTo>
                    <a:pt x="5129212" y="0"/>
                  </a:moveTo>
                  <a:lnTo>
                    <a:pt x="128587" y="0"/>
                  </a:lnTo>
                  <a:lnTo>
                    <a:pt x="78534" y="10098"/>
                  </a:lnTo>
                  <a:lnTo>
                    <a:pt x="37661" y="37639"/>
                  </a:lnTo>
                  <a:lnTo>
                    <a:pt x="10104" y="78491"/>
                  </a:lnTo>
                  <a:lnTo>
                    <a:pt x="0" y="128524"/>
                  </a:lnTo>
                  <a:lnTo>
                    <a:pt x="0" y="642874"/>
                  </a:lnTo>
                  <a:lnTo>
                    <a:pt x="10104" y="692925"/>
                  </a:lnTo>
                  <a:lnTo>
                    <a:pt x="37661" y="733821"/>
                  </a:lnTo>
                  <a:lnTo>
                    <a:pt x="78534" y="761406"/>
                  </a:lnTo>
                  <a:lnTo>
                    <a:pt x="128587" y="771525"/>
                  </a:lnTo>
                  <a:lnTo>
                    <a:pt x="5129212" y="771525"/>
                  </a:lnTo>
                  <a:lnTo>
                    <a:pt x="5179264" y="761406"/>
                  </a:lnTo>
                  <a:lnTo>
                    <a:pt x="5220160" y="733821"/>
                  </a:lnTo>
                  <a:lnTo>
                    <a:pt x="5247745" y="692925"/>
                  </a:lnTo>
                  <a:lnTo>
                    <a:pt x="5257863" y="642874"/>
                  </a:lnTo>
                  <a:lnTo>
                    <a:pt x="5257863" y="128524"/>
                  </a:lnTo>
                  <a:lnTo>
                    <a:pt x="5247745" y="78491"/>
                  </a:lnTo>
                  <a:lnTo>
                    <a:pt x="5220160" y="37639"/>
                  </a:lnTo>
                  <a:lnTo>
                    <a:pt x="5179264" y="10098"/>
                  </a:lnTo>
                  <a:lnTo>
                    <a:pt x="5129212" y="0"/>
                  </a:lnTo>
                  <a:close/>
                </a:path>
              </a:pathLst>
            </a:custGeom>
            <a:solidFill>
              <a:srgbClr val="F8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95312" y="2014600"/>
              <a:ext cx="5258435" cy="771525"/>
            </a:xfrm>
            <a:custGeom>
              <a:avLst/>
              <a:gdLst/>
              <a:ahLst/>
              <a:cxnLst/>
              <a:rect l="l" t="t" r="r" b="b"/>
              <a:pathLst>
                <a:path w="5258435" h="771525">
                  <a:moveTo>
                    <a:pt x="0" y="128524"/>
                  </a:moveTo>
                  <a:lnTo>
                    <a:pt x="10104" y="78491"/>
                  </a:lnTo>
                  <a:lnTo>
                    <a:pt x="37661" y="37639"/>
                  </a:lnTo>
                  <a:lnTo>
                    <a:pt x="78534" y="10098"/>
                  </a:lnTo>
                  <a:lnTo>
                    <a:pt x="128587" y="0"/>
                  </a:lnTo>
                  <a:lnTo>
                    <a:pt x="5129212" y="0"/>
                  </a:lnTo>
                  <a:lnTo>
                    <a:pt x="5179264" y="10098"/>
                  </a:lnTo>
                  <a:lnTo>
                    <a:pt x="5220160" y="37639"/>
                  </a:lnTo>
                  <a:lnTo>
                    <a:pt x="5247745" y="78491"/>
                  </a:lnTo>
                  <a:lnTo>
                    <a:pt x="5257863" y="128524"/>
                  </a:lnTo>
                  <a:lnTo>
                    <a:pt x="5257863" y="642874"/>
                  </a:lnTo>
                  <a:lnTo>
                    <a:pt x="5247745" y="692925"/>
                  </a:lnTo>
                  <a:lnTo>
                    <a:pt x="5220160" y="733821"/>
                  </a:lnTo>
                  <a:lnTo>
                    <a:pt x="5179264" y="761406"/>
                  </a:lnTo>
                  <a:lnTo>
                    <a:pt x="5129212" y="771525"/>
                  </a:lnTo>
                  <a:lnTo>
                    <a:pt x="128587" y="771525"/>
                  </a:lnTo>
                  <a:lnTo>
                    <a:pt x="78534" y="761406"/>
                  </a:lnTo>
                  <a:lnTo>
                    <a:pt x="37661" y="733821"/>
                  </a:lnTo>
                  <a:lnTo>
                    <a:pt x="10104" y="692925"/>
                  </a:lnTo>
                  <a:lnTo>
                    <a:pt x="0" y="642874"/>
                  </a:lnTo>
                  <a:lnTo>
                    <a:pt x="0" y="128524"/>
                  </a:lnTo>
                  <a:close/>
                </a:path>
              </a:pathLst>
            </a:custGeom>
            <a:ln w="9525">
              <a:solidFill>
                <a:srgbClr val="D2E1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3400" y="1971611"/>
              <a:ext cx="176212" cy="88106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90550" y="2009774"/>
              <a:ext cx="66675" cy="771525"/>
            </a:xfrm>
            <a:custGeom>
              <a:avLst/>
              <a:gdLst/>
              <a:ahLst/>
              <a:cxnLst/>
              <a:rect l="l" t="t" r="r" b="b"/>
              <a:pathLst>
                <a:path w="66675" h="771525">
                  <a:moveTo>
                    <a:pt x="66675" y="0"/>
                  </a:moveTo>
                  <a:lnTo>
                    <a:pt x="0" y="0"/>
                  </a:lnTo>
                  <a:lnTo>
                    <a:pt x="0" y="771525"/>
                  </a:lnTo>
                  <a:lnTo>
                    <a:pt x="66675" y="77152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1F8F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38200" y="2069463"/>
            <a:ext cx="2220595" cy="55753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550" b="1" spc="-10" dirty="0">
                <a:solidFill>
                  <a:srgbClr val="133755"/>
                </a:solidFill>
                <a:latin typeface="Calibri"/>
                <a:cs typeface="Calibri"/>
              </a:rPr>
              <a:t>DEPARTMENT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050" dirty="0">
                <a:solidFill>
                  <a:srgbClr val="677179"/>
                </a:solidFill>
                <a:latin typeface="Calibri"/>
                <a:cs typeface="Calibri"/>
              </a:rPr>
              <a:t>Department</a:t>
            </a:r>
            <a:r>
              <a:rPr sz="1050" spc="-15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77179"/>
                </a:solidFill>
                <a:latin typeface="Calibri"/>
                <a:cs typeface="Calibri"/>
              </a:rPr>
              <a:t>name</a:t>
            </a:r>
            <a:r>
              <a:rPr sz="1050" spc="-30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77179"/>
                </a:solidFill>
                <a:latin typeface="Calibri"/>
                <a:cs typeface="Calibri"/>
              </a:rPr>
              <a:t>and</a:t>
            </a:r>
            <a:r>
              <a:rPr sz="1050" spc="-60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77179"/>
                </a:solidFill>
                <a:latin typeface="Calibri"/>
                <a:cs typeface="Calibri"/>
              </a:rPr>
              <a:t>hospital</a:t>
            </a:r>
            <a:r>
              <a:rPr sz="1050" spc="20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77179"/>
                </a:solidFill>
                <a:latin typeface="Calibri"/>
                <a:cs typeface="Calibri"/>
              </a:rPr>
              <a:t>location.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162675" y="1971611"/>
            <a:ext cx="5348605" cy="881380"/>
            <a:chOff x="6162675" y="1971611"/>
            <a:chExt cx="5348605" cy="881380"/>
          </a:xfrm>
        </p:grpSpPr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91225" y="2000034"/>
              <a:ext cx="5319825" cy="84321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224651" y="2014600"/>
              <a:ext cx="5257800" cy="771525"/>
            </a:xfrm>
            <a:custGeom>
              <a:avLst/>
              <a:gdLst/>
              <a:ahLst/>
              <a:cxnLst/>
              <a:rect l="l" t="t" r="r" b="b"/>
              <a:pathLst>
                <a:path w="5257800" h="771525">
                  <a:moveTo>
                    <a:pt x="5129149" y="0"/>
                  </a:moveTo>
                  <a:lnTo>
                    <a:pt x="128524" y="0"/>
                  </a:lnTo>
                  <a:lnTo>
                    <a:pt x="78491" y="10098"/>
                  </a:lnTo>
                  <a:lnTo>
                    <a:pt x="37639" y="37639"/>
                  </a:lnTo>
                  <a:lnTo>
                    <a:pt x="10098" y="78491"/>
                  </a:lnTo>
                  <a:lnTo>
                    <a:pt x="0" y="128524"/>
                  </a:lnTo>
                  <a:lnTo>
                    <a:pt x="0" y="642874"/>
                  </a:lnTo>
                  <a:lnTo>
                    <a:pt x="10098" y="692925"/>
                  </a:lnTo>
                  <a:lnTo>
                    <a:pt x="37639" y="733821"/>
                  </a:lnTo>
                  <a:lnTo>
                    <a:pt x="78491" y="761406"/>
                  </a:lnTo>
                  <a:lnTo>
                    <a:pt x="128524" y="771525"/>
                  </a:lnTo>
                  <a:lnTo>
                    <a:pt x="5129149" y="771525"/>
                  </a:lnTo>
                  <a:lnTo>
                    <a:pt x="5179200" y="761406"/>
                  </a:lnTo>
                  <a:lnTo>
                    <a:pt x="5220096" y="733821"/>
                  </a:lnTo>
                  <a:lnTo>
                    <a:pt x="5247681" y="692925"/>
                  </a:lnTo>
                  <a:lnTo>
                    <a:pt x="5257800" y="642874"/>
                  </a:lnTo>
                  <a:lnTo>
                    <a:pt x="5257800" y="128524"/>
                  </a:lnTo>
                  <a:lnTo>
                    <a:pt x="5247681" y="78491"/>
                  </a:lnTo>
                  <a:lnTo>
                    <a:pt x="5220096" y="37639"/>
                  </a:lnTo>
                  <a:lnTo>
                    <a:pt x="5179200" y="10098"/>
                  </a:lnTo>
                  <a:lnTo>
                    <a:pt x="5129149" y="0"/>
                  </a:lnTo>
                  <a:close/>
                </a:path>
              </a:pathLst>
            </a:custGeom>
            <a:solidFill>
              <a:srgbClr val="F8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224651" y="2014600"/>
              <a:ext cx="5257800" cy="771525"/>
            </a:xfrm>
            <a:custGeom>
              <a:avLst/>
              <a:gdLst/>
              <a:ahLst/>
              <a:cxnLst/>
              <a:rect l="l" t="t" r="r" b="b"/>
              <a:pathLst>
                <a:path w="5257800" h="771525">
                  <a:moveTo>
                    <a:pt x="0" y="128524"/>
                  </a:moveTo>
                  <a:lnTo>
                    <a:pt x="10098" y="78491"/>
                  </a:lnTo>
                  <a:lnTo>
                    <a:pt x="37639" y="37639"/>
                  </a:lnTo>
                  <a:lnTo>
                    <a:pt x="78491" y="10098"/>
                  </a:lnTo>
                  <a:lnTo>
                    <a:pt x="128524" y="0"/>
                  </a:lnTo>
                  <a:lnTo>
                    <a:pt x="5129149" y="0"/>
                  </a:lnTo>
                  <a:lnTo>
                    <a:pt x="5179200" y="10098"/>
                  </a:lnTo>
                  <a:lnTo>
                    <a:pt x="5220096" y="37639"/>
                  </a:lnTo>
                  <a:lnTo>
                    <a:pt x="5247681" y="78491"/>
                  </a:lnTo>
                  <a:lnTo>
                    <a:pt x="5257800" y="128524"/>
                  </a:lnTo>
                  <a:lnTo>
                    <a:pt x="5257800" y="642874"/>
                  </a:lnTo>
                  <a:lnTo>
                    <a:pt x="5247681" y="692925"/>
                  </a:lnTo>
                  <a:lnTo>
                    <a:pt x="5220096" y="733821"/>
                  </a:lnTo>
                  <a:lnTo>
                    <a:pt x="5179200" y="761406"/>
                  </a:lnTo>
                  <a:lnTo>
                    <a:pt x="5129149" y="771525"/>
                  </a:lnTo>
                  <a:lnTo>
                    <a:pt x="128524" y="771525"/>
                  </a:lnTo>
                  <a:lnTo>
                    <a:pt x="78491" y="761406"/>
                  </a:lnTo>
                  <a:lnTo>
                    <a:pt x="37639" y="733821"/>
                  </a:lnTo>
                  <a:lnTo>
                    <a:pt x="10098" y="692925"/>
                  </a:lnTo>
                  <a:lnTo>
                    <a:pt x="0" y="642874"/>
                  </a:lnTo>
                  <a:lnTo>
                    <a:pt x="0" y="128524"/>
                  </a:lnTo>
                  <a:close/>
                </a:path>
              </a:pathLst>
            </a:custGeom>
            <a:ln w="9525">
              <a:solidFill>
                <a:srgbClr val="D2E1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62675" y="1971611"/>
              <a:ext cx="176212" cy="88106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219825" y="2009774"/>
              <a:ext cx="66675" cy="771525"/>
            </a:xfrm>
            <a:custGeom>
              <a:avLst/>
              <a:gdLst/>
              <a:ahLst/>
              <a:cxnLst/>
              <a:rect l="l" t="t" r="r" b="b"/>
              <a:pathLst>
                <a:path w="66675" h="771525">
                  <a:moveTo>
                    <a:pt x="66675" y="0"/>
                  </a:moveTo>
                  <a:lnTo>
                    <a:pt x="0" y="0"/>
                  </a:lnTo>
                  <a:lnTo>
                    <a:pt x="0" y="771525"/>
                  </a:lnTo>
                  <a:lnTo>
                    <a:pt x="66675" y="77152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2F6C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466204" y="2069463"/>
            <a:ext cx="2388235" cy="55753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550" b="1" spc="-10" dirty="0">
                <a:solidFill>
                  <a:srgbClr val="133755"/>
                </a:solidFill>
                <a:latin typeface="Calibri"/>
                <a:cs typeface="Calibri"/>
              </a:rPr>
              <a:t>APPOINTMENT</a:t>
            </a:r>
            <a:endParaRPr sz="15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050" spc="-10" dirty="0">
                <a:solidFill>
                  <a:srgbClr val="677179"/>
                </a:solidFill>
                <a:latin typeface="Calibri"/>
                <a:cs typeface="Calibri"/>
              </a:rPr>
              <a:t>Patient–</a:t>
            </a:r>
            <a:r>
              <a:rPr sz="1050" dirty="0">
                <a:solidFill>
                  <a:srgbClr val="677179"/>
                </a:solidFill>
                <a:latin typeface="Calibri"/>
                <a:cs typeface="Calibri"/>
              </a:rPr>
              <a:t>doctor</a:t>
            </a:r>
            <a:r>
              <a:rPr sz="1050" spc="5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77179"/>
                </a:solidFill>
                <a:latin typeface="Calibri"/>
                <a:cs typeface="Calibri"/>
              </a:rPr>
              <a:t>appointment</a:t>
            </a:r>
            <a:r>
              <a:rPr sz="1050" spc="20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77179"/>
                </a:solidFill>
                <a:latin typeface="Calibri"/>
                <a:cs typeface="Calibri"/>
              </a:rPr>
              <a:t>date</a:t>
            </a:r>
            <a:r>
              <a:rPr sz="1050" spc="5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77179"/>
                </a:solidFill>
                <a:latin typeface="Calibri"/>
                <a:cs typeface="Calibri"/>
              </a:rPr>
              <a:t>and</a:t>
            </a:r>
            <a:r>
              <a:rPr sz="1050" spc="-30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677179"/>
                </a:solidFill>
                <a:latin typeface="Calibri"/>
                <a:cs typeface="Calibri"/>
              </a:rPr>
              <a:t>time.</a:t>
            </a:r>
            <a:endParaRPr sz="1050" dirty="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33400" y="2962211"/>
            <a:ext cx="5348605" cy="881380"/>
            <a:chOff x="533400" y="2962211"/>
            <a:chExt cx="5348605" cy="881380"/>
          </a:xfrm>
        </p:grpSpPr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1950" y="2990634"/>
              <a:ext cx="5319825" cy="84321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595312" y="3005200"/>
              <a:ext cx="5258435" cy="771525"/>
            </a:xfrm>
            <a:custGeom>
              <a:avLst/>
              <a:gdLst/>
              <a:ahLst/>
              <a:cxnLst/>
              <a:rect l="l" t="t" r="r" b="b"/>
              <a:pathLst>
                <a:path w="5258435" h="771525">
                  <a:moveTo>
                    <a:pt x="5129212" y="0"/>
                  </a:moveTo>
                  <a:lnTo>
                    <a:pt x="128587" y="0"/>
                  </a:lnTo>
                  <a:lnTo>
                    <a:pt x="78534" y="10098"/>
                  </a:lnTo>
                  <a:lnTo>
                    <a:pt x="37661" y="37639"/>
                  </a:lnTo>
                  <a:lnTo>
                    <a:pt x="10104" y="78491"/>
                  </a:lnTo>
                  <a:lnTo>
                    <a:pt x="0" y="128524"/>
                  </a:lnTo>
                  <a:lnTo>
                    <a:pt x="0" y="642874"/>
                  </a:lnTo>
                  <a:lnTo>
                    <a:pt x="10104" y="692925"/>
                  </a:lnTo>
                  <a:lnTo>
                    <a:pt x="37661" y="733821"/>
                  </a:lnTo>
                  <a:lnTo>
                    <a:pt x="78534" y="761406"/>
                  </a:lnTo>
                  <a:lnTo>
                    <a:pt x="128587" y="771525"/>
                  </a:lnTo>
                  <a:lnTo>
                    <a:pt x="5129212" y="771525"/>
                  </a:lnTo>
                  <a:lnTo>
                    <a:pt x="5179264" y="761406"/>
                  </a:lnTo>
                  <a:lnTo>
                    <a:pt x="5220160" y="733821"/>
                  </a:lnTo>
                  <a:lnTo>
                    <a:pt x="5247745" y="692925"/>
                  </a:lnTo>
                  <a:lnTo>
                    <a:pt x="5257863" y="642874"/>
                  </a:lnTo>
                  <a:lnTo>
                    <a:pt x="5257863" y="128524"/>
                  </a:lnTo>
                  <a:lnTo>
                    <a:pt x="5247745" y="78491"/>
                  </a:lnTo>
                  <a:lnTo>
                    <a:pt x="5220160" y="37639"/>
                  </a:lnTo>
                  <a:lnTo>
                    <a:pt x="5179264" y="10098"/>
                  </a:lnTo>
                  <a:lnTo>
                    <a:pt x="5129212" y="0"/>
                  </a:lnTo>
                  <a:close/>
                </a:path>
              </a:pathLst>
            </a:custGeom>
            <a:solidFill>
              <a:srgbClr val="F8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95312" y="3005200"/>
              <a:ext cx="5258435" cy="771525"/>
            </a:xfrm>
            <a:custGeom>
              <a:avLst/>
              <a:gdLst/>
              <a:ahLst/>
              <a:cxnLst/>
              <a:rect l="l" t="t" r="r" b="b"/>
              <a:pathLst>
                <a:path w="5258435" h="771525">
                  <a:moveTo>
                    <a:pt x="0" y="128524"/>
                  </a:moveTo>
                  <a:lnTo>
                    <a:pt x="10104" y="78491"/>
                  </a:lnTo>
                  <a:lnTo>
                    <a:pt x="37661" y="37639"/>
                  </a:lnTo>
                  <a:lnTo>
                    <a:pt x="78534" y="10098"/>
                  </a:lnTo>
                  <a:lnTo>
                    <a:pt x="128587" y="0"/>
                  </a:lnTo>
                  <a:lnTo>
                    <a:pt x="5129212" y="0"/>
                  </a:lnTo>
                  <a:lnTo>
                    <a:pt x="5179264" y="10098"/>
                  </a:lnTo>
                  <a:lnTo>
                    <a:pt x="5220160" y="37639"/>
                  </a:lnTo>
                  <a:lnTo>
                    <a:pt x="5247745" y="78491"/>
                  </a:lnTo>
                  <a:lnTo>
                    <a:pt x="5257863" y="128524"/>
                  </a:lnTo>
                  <a:lnTo>
                    <a:pt x="5257863" y="642874"/>
                  </a:lnTo>
                  <a:lnTo>
                    <a:pt x="5247745" y="692925"/>
                  </a:lnTo>
                  <a:lnTo>
                    <a:pt x="5220160" y="733821"/>
                  </a:lnTo>
                  <a:lnTo>
                    <a:pt x="5179264" y="761406"/>
                  </a:lnTo>
                  <a:lnTo>
                    <a:pt x="5129212" y="771525"/>
                  </a:lnTo>
                  <a:lnTo>
                    <a:pt x="128587" y="771525"/>
                  </a:lnTo>
                  <a:lnTo>
                    <a:pt x="78534" y="761406"/>
                  </a:lnTo>
                  <a:lnTo>
                    <a:pt x="37661" y="733821"/>
                  </a:lnTo>
                  <a:lnTo>
                    <a:pt x="10104" y="692925"/>
                  </a:lnTo>
                  <a:lnTo>
                    <a:pt x="0" y="642874"/>
                  </a:lnTo>
                  <a:lnTo>
                    <a:pt x="0" y="128524"/>
                  </a:lnTo>
                  <a:close/>
                </a:path>
              </a:pathLst>
            </a:custGeom>
            <a:ln w="9525">
              <a:solidFill>
                <a:srgbClr val="D2E1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3400" y="2962211"/>
              <a:ext cx="176212" cy="881062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90550" y="3000374"/>
              <a:ext cx="66675" cy="771525"/>
            </a:xfrm>
            <a:custGeom>
              <a:avLst/>
              <a:gdLst/>
              <a:ahLst/>
              <a:cxnLst/>
              <a:rect l="l" t="t" r="r" b="b"/>
              <a:pathLst>
                <a:path w="66675" h="771525">
                  <a:moveTo>
                    <a:pt x="66675" y="0"/>
                  </a:moveTo>
                  <a:lnTo>
                    <a:pt x="0" y="0"/>
                  </a:lnTo>
                  <a:lnTo>
                    <a:pt x="0" y="771525"/>
                  </a:lnTo>
                  <a:lnTo>
                    <a:pt x="66675" y="77152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1F8F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838200" y="3058569"/>
            <a:ext cx="2537460" cy="55753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550" b="1" spc="-10" dirty="0">
                <a:solidFill>
                  <a:srgbClr val="133755"/>
                </a:solidFill>
                <a:latin typeface="Calibri"/>
                <a:cs typeface="Calibri"/>
              </a:rPr>
              <a:t>ADMISSION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050" dirty="0">
                <a:solidFill>
                  <a:srgbClr val="677179"/>
                </a:solidFill>
                <a:latin typeface="Calibri"/>
                <a:cs typeface="Calibri"/>
              </a:rPr>
              <a:t>Patient</a:t>
            </a:r>
            <a:r>
              <a:rPr sz="1050" spc="-10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77179"/>
                </a:solidFill>
                <a:latin typeface="Calibri"/>
                <a:cs typeface="Calibri"/>
              </a:rPr>
              <a:t>admission,</a:t>
            </a:r>
            <a:r>
              <a:rPr sz="1050" spc="10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77179"/>
                </a:solidFill>
                <a:latin typeface="Calibri"/>
                <a:cs typeface="Calibri"/>
              </a:rPr>
              <a:t>room</a:t>
            </a:r>
            <a:r>
              <a:rPr sz="1050" spc="35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77179"/>
                </a:solidFill>
                <a:latin typeface="Calibri"/>
                <a:cs typeface="Calibri"/>
              </a:rPr>
              <a:t>allocation</a:t>
            </a:r>
            <a:r>
              <a:rPr sz="1050" spc="-50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77179"/>
                </a:solidFill>
                <a:latin typeface="Calibri"/>
                <a:cs typeface="Calibri"/>
              </a:rPr>
              <a:t>and</a:t>
            </a:r>
            <a:r>
              <a:rPr sz="1050" spc="20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77179"/>
                </a:solidFill>
                <a:latin typeface="Calibri"/>
                <a:cs typeface="Calibri"/>
              </a:rPr>
              <a:t>status.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162675" y="2962211"/>
            <a:ext cx="5348605" cy="881380"/>
            <a:chOff x="6162675" y="2962211"/>
            <a:chExt cx="5348605" cy="881380"/>
          </a:xfrm>
        </p:grpSpPr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91225" y="2990634"/>
              <a:ext cx="5319825" cy="843215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6224651" y="3005200"/>
              <a:ext cx="5257800" cy="771525"/>
            </a:xfrm>
            <a:custGeom>
              <a:avLst/>
              <a:gdLst/>
              <a:ahLst/>
              <a:cxnLst/>
              <a:rect l="l" t="t" r="r" b="b"/>
              <a:pathLst>
                <a:path w="5257800" h="771525">
                  <a:moveTo>
                    <a:pt x="5129149" y="0"/>
                  </a:moveTo>
                  <a:lnTo>
                    <a:pt x="128524" y="0"/>
                  </a:lnTo>
                  <a:lnTo>
                    <a:pt x="78491" y="10098"/>
                  </a:lnTo>
                  <a:lnTo>
                    <a:pt x="37639" y="37639"/>
                  </a:lnTo>
                  <a:lnTo>
                    <a:pt x="10098" y="78491"/>
                  </a:lnTo>
                  <a:lnTo>
                    <a:pt x="0" y="128524"/>
                  </a:lnTo>
                  <a:lnTo>
                    <a:pt x="0" y="642874"/>
                  </a:lnTo>
                  <a:lnTo>
                    <a:pt x="10098" y="692925"/>
                  </a:lnTo>
                  <a:lnTo>
                    <a:pt x="37639" y="733821"/>
                  </a:lnTo>
                  <a:lnTo>
                    <a:pt x="78491" y="761406"/>
                  </a:lnTo>
                  <a:lnTo>
                    <a:pt x="128524" y="771525"/>
                  </a:lnTo>
                  <a:lnTo>
                    <a:pt x="5129149" y="771525"/>
                  </a:lnTo>
                  <a:lnTo>
                    <a:pt x="5179200" y="761406"/>
                  </a:lnTo>
                  <a:lnTo>
                    <a:pt x="5220096" y="733821"/>
                  </a:lnTo>
                  <a:lnTo>
                    <a:pt x="5247681" y="692925"/>
                  </a:lnTo>
                  <a:lnTo>
                    <a:pt x="5257800" y="642874"/>
                  </a:lnTo>
                  <a:lnTo>
                    <a:pt x="5257800" y="128524"/>
                  </a:lnTo>
                  <a:lnTo>
                    <a:pt x="5247681" y="78491"/>
                  </a:lnTo>
                  <a:lnTo>
                    <a:pt x="5220096" y="37639"/>
                  </a:lnTo>
                  <a:lnTo>
                    <a:pt x="5179200" y="10098"/>
                  </a:lnTo>
                  <a:lnTo>
                    <a:pt x="5129149" y="0"/>
                  </a:lnTo>
                  <a:close/>
                </a:path>
              </a:pathLst>
            </a:custGeom>
            <a:solidFill>
              <a:srgbClr val="F8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224651" y="3005200"/>
              <a:ext cx="5257800" cy="771525"/>
            </a:xfrm>
            <a:custGeom>
              <a:avLst/>
              <a:gdLst/>
              <a:ahLst/>
              <a:cxnLst/>
              <a:rect l="l" t="t" r="r" b="b"/>
              <a:pathLst>
                <a:path w="5257800" h="771525">
                  <a:moveTo>
                    <a:pt x="0" y="128524"/>
                  </a:moveTo>
                  <a:lnTo>
                    <a:pt x="10098" y="78491"/>
                  </a:lnTo>
                  <a:lnTo>
                    <a:pt x="37639" y="37639"/>
                  </a:lnTo>
                  <a:lnTo>
                    <a:pt x="78491" y="10098"/>
                  </a:lnTo>
                  <a:lnTo>
                    <a:pt x="128524" y="0"/>
                  </a:lnTo>
                  <a:lnTo>
                    <a:pt x="5129149" y="0"/>
                  </a:lnTo>
                  <a:lnTo>
                    <a:pt x="5179200" y="10098"/>
                  </a:lnTo>
                  <a:lnTo>
                    <a:pt x="5220096" y="37639"/>
                  </a:lnTo>
                  <a:lnTo>
                    <a:pt x="5247681" y="78491"/>
                  </a:lnTo>
                  <a:lnTo>
                    <a:pt x="5257800" y="128524"/>
                  </a:lnTo>
                  <a:lnTo>
                    <a:pt x="5257800" y="642874"/>
                  </a:lnTo>
                  <a:lnTo>
                    <a:pt x="5247681" y="692925"/>
                  </a:lnTo>
                  <a:lnTo>
                    <a:pt x="5220096" y="733821"/>
                  </a:lnTo>
                  <a:lnTo>
                    <a:pt x="5179200" y="761406"/>
                  </a:lnTo>
                  <a:lnTo>
                    <a:pt x="5129149" y="771525"/>
                  </a:lnTo>
                  <a:lnTo>
                    <a:pt x="128524" y="771525"/>
                  </a:lnTo>
                  <a:lnTo>
                    <a:pt x="78491" y="761406"/>
                  </a:lnTo>
                  <a:lnTo>
                    <a:pt x="37639" y="733821"/>
                  </a:lnTo>
                  <a:lnTo>
                    <a:pt x="10098" y="692925"/>
                  </a:lnTo>
                  <a:lnTo>
                    <a:pt x="0" y="642874"/>
                  </a:lnTo>
                  <a:lnTo>
                    <a:pt x="0" y="128524"/>
                  </a:lnTo>
                  <a:close/>
                </a:path>
              </a:pathLst>
            </a:custGeom>
            <a:ln w="9525">
              <a:solidFill>
                <a:srgbClr val="D2E1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62675" y="2962211"/>
              <a:ext cx="176212" cy="881062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219825" y="3000374"/>
              <a:ext cx="66675" cy="771525"/>
            </a:xfrm>
            <a:custGeom>
              <a:avLst/>
              <a:gdLst/>
              <a:ahLst/>
              <a:cxnLst/>
              <a:rect l="l" t="t" r="r" b="b"/>
              <a:pathLst>
                <a:path w="66675" h="771525">
                  <a:moveTo>
                    <a:pt x="66675" y="0"/>
                  </a:moveTo>
                  <a:lnTo>
                    <a:pt x="0" y="0"/>
                  </a:lnTo>
                  <a:lnTo>
                    <a:pt x="0" y="771525"/>
                  </a:lnTo>
                  <a:lnTo>
                    <a:pt x="66675" y="77152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2F6C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466204" y="3058569"/>
            <a:ext cx="2362835" cy="55753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550" b="1" spc="-20" dirty="0">
                <a:solidFill>
                  <a:srgbClr val="133755"/>
                </a:solidFill>
                <a:latin typeface="Calibri"/>
                <a:cs typeface="Calibri"/>
              </a:rPr>
              <a:t>ROOM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050" dirty="0">
                <a:solidFill>
                  <a:srgbClr val="677179"/>
                </a:solidFill>
                <a:latin typeface="Calibri"/>
                <a:cs typeface="Calibri"/>
              </a:rPr>
              <a:t>Room</a:t>
            </a:r>
            <a:r>
              <a:rPr sz="1050" spc="50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77179"/>
                </a:solidFill>
                <a:latin typeface="Calibri"/>
                <a:cs typeface="Calibri"/>
              </a:rPr>
              <a:t>number,</a:t>
            </a:r>
            <a:r>
              <a:rPr sz="1050" spc="-45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77179"/>
                </a:solidFill>
                <a:latin typeface="Calibri"/>
                <a:cs typeface="Calibri"/>
              </a:rPr>
              <a:t>type</a:t>
            </a:r>
            <a:r>
              <a:rPr sz="1050" spc="-15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77179"/>
                </a:solidFill>
                <a:latin typeface="Calibri"/>
                <a:cs typeface="Calibri"/>
              </a:rPr>
              <a:t>and</a:t>
            </a:r>
            <a:r>
              <a:rPr sz="1050" spc="-35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77179"/>
                </a:solidFill>
                <a:latin typeface="Calibri"/>
                <a:cs typeface="Calibri"/>
              </a:rPr>
              <a:t>availability/status.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533400" y="3952811"/>
            <a:ext cx="5348605" cy="871855"/>
            <a:chOff x="533400" y="3952811"/>
            <a:chExt cx="5348605" cy="871855"/>
          </a:xfrm>
        </p:grpSpPr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1950" y="3981232"/>
              <a:ext cx="5319825" cy="833693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595312" y="3995800"/>
              <a:ext cx="5258435" cy="762000"/>
            </a:xfrm>
            <a:custGeom>
              <a:avLst/>
              <a:gdLst/>
              <a:ahLst/>
              <a:cxnLst/>
              <a:rect l="l" t="t" r="r" b="b"/>
              <a:pathLst>
                <a:path w="5258435" h="762000">
                  <a:moveTo>
                    <a:pt x="5130863" y="0"/>
                  </a:moveTo>
                  <a:lnTo>
                    <a:pt x="127000" y="0"/>
                  </a:lnTo>
                  <a:lnTo>
                    <a:pt x="77565" y="9967"/>
                  </a:lnTo>
                  <a:lnTo>
                    <a:pt x="37196" y="37163"/>
                  </a:lnTo>
                  <a:lnTo>
                    <a:pt x="9980" y="77527"/>
                  </a:lnTo>
                  <a:lnTo>
                    <a:pt x="0" y="127000"/>
                  </a:lnTo>
                  <a:lnTo>
                    <a:pt x="0" y="634873"/>
                  </a:lnTo>
                  <a:lnTo>
                    <a:pt x="9980" y="684365"/>
                  </a:lnTo>
                  <a:lnTo>
                    <a:pt x="37196" y="724773"/>
                  </a:lnTo>
                  <a:lnTo>
                    <a:pt x="77565" y="752012"/>
                  </a:lnTo>
                  <a:lnTo>
                    <a:pt x="127000" y="762000"/>
                  </a:lnTo>
                  <a:lnTo>
                    <a:pt x="5130863" y="762000"/>
                  </a:lnTo>
                  <a:lnTo>
                    <a:pt x="5180282" y="752012"/>
                  </a:lnTo>
                  <a:lnTo>
                    <a:pt x="5220652" y="724773"/>
                  </a:lnTo>
                  <a:lnTo>
                    <a:pt x="5247878" y="684365"/>
                  </a:lnTo>
                  <a:lnTo>
                    <a:pt x="5257863" y="634873"/>
                  </a:lnTo>
                  <a:lnTo>
                    <a:pt x="5257863" y="127000"/>
                  </a:lnTo>
                  <a:lnTo>
                    <a:pt x="5247878" y="77527"/>
                  </a:lnTo>
                  <a:lnTo>
                    <a:pt x="5220652" y="37163"/>
                  </a:lnTo>
                  <a:lnTo>
                    <a:pt x="5180282" y="9967"/>
                  </a:lnTo>
                  <a:lnTo>
                    <a:pt x="5130863" y="0"/>
                  </a:lnTo>
                  <a:close/>
                </a:path>
              </a:pathLst>
            </a:custGeom>
            <a:solidFill>
              <a:srgbClr val="F8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95312" y="3995800"/>
              <a:ext cx="5258435" cy="762000"/>
            </a:xfrm>
            <a:custGeom>
              <a:avLst/>
              <a:gdLst/>
              <a:ahLst/>
              <a:cxnLst/>
              <a:rect l="l" t="t" r="r" b="b"/>
              <a:pathLst>
                <a:path w="5258435" h="762000">
                  <a:moveTo>
                    <a:pt x="0" y="127000"/>
                  </a:moveTo>
                  <a:lnTo>
                    <a:pt x="9980" y="77527"/>
                  </a:lnTo>
                  <a:lnTo>
                    <a:pt x="37196" y="37163"/>
                  </a:lnTo>
                  <a:lnTo>
                    <a:pt x="77565" y="9967"/>
                  </a:lnTo>
                  <a:lnTo>
                    <a:pt x="127000" y="0"/>
                  </a:lnTo>
                  <a:lnTo>
                    <a:pt x="5130863" y="0"/>
                  </a:lnTo>
                  <a:lnTo>
                    <a:pt x="5180282" y="9967"/>
                  </a:lnTo>
                  <a:lnTo>
                    <a:pt x="5220652" y="37163"/>
                  </a:lnTo>
                  <a:lnTo>
                    <a:pt x="5247878" y="77527"/>
                  </a:lnTo>
                  <a:lnTo>
                    <a:pt x="5257863" y="127000"/>
                  </a:lnTo>
                  <a:lnTo>
                    <a:pt x="5257863" y="634873"/>
                  </a:lnTo>
                  <a:lnTo>
                    <a:pt x="5247878" y="684365"/>
                  </a:lnTo>
                  <a:lnTo>
                    <a:pt x="5220652" y="724773"/>
                  </a:lnTo>
                  <a:lnTo>
                    <a:pt x="5180282" y="752012"/>
                  </a:lnTo>
                  <a:lnTo>
                    <a:pt x="5130863" y="762000"/>
                  </a:lnTo>
                  <a:lnTo>
                    <a:pt x="127000" y="762000"/>
                  </a:lnTo>
                  <a:lnTo>
                    <a:pt x="77565" y="752012"/>
                  </a:lnTo>
                  <a:lnTo>
                    <a:pt x="37196" y="724773"/>
                  </a:lnTo>
                  <a:lnTo>
                    <a:pt x="9980" y="684365"/>
                  </a:lnTo>
                  <a:lnTo>
                    <a:pt x="0" y="634873"/>
                  </a:lnTo>
                  <a:lnTo>
                    <a:pt x="0" y="127000"/>
                  </a:lnTo>
                  <a:close/>
                </a:path>
              </a:pathLst>
            </a:custGeom>
            <a:ln w="9525">
              <a:solidFill>
                <a:srgbClr val="D2E1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400" y="3952811"/>
              <a:ext cx="176212" cy="871537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590550" y="3990974"/>
              <a:ext cx="66675" cy="762000"/>
            </a:xfrm>
            <a:custGeom>
              <a:avLst/>
              <a:gdLst/>
              <a:ahLst/>
              <a:cxnLst/>
              <a:rect l="l" t="t" r="r" b="b"/>
              <a:pathLst>
                <a:path w="66675" h="762000">
                  <a:moveTo>
                    <a:pt x="66675" y="0"/>
                  </a:moveTo>
                  <a:lnTo>
                    <a:pt x="0" y="0"/>
                  </a:lnTo>
                  <a:lnTo>
                    <a:pt x="0" y="762000"/>
                  </a:lnTo>
                  <a:lnTo>
                    <a:pt x="66675" y="76200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1F8F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838200" y="4045871"/>
            <a:ext cx="2087880" cy="55880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550" b="1" spc="-10" dirty="0">
                <a:solidFill>
                  <a:srgbClr val="133755"/>
                </a:solidFill>
                <a:latin typeface="Calibri"/>
                <a:cs typeface="Calibri"/>
              </a:rPr>
              <a:t>TREATMENT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050" dirty="0">
                <a:solidFill>
                  <a:srgbClr val="677179"/>
                </a:solidFill>
                <a:latin typeface="Calibri"/>
                <a:cs typeface="Calibri"/>
              </a:rPr>
              <a:t>Patient</a:t>
            </a:r>
            <a:r>
              <a:rPr sz="1050" spc="15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77179"/>
                </a:solidFill>
                <a:latin typeface="Calibri"/>
                <a:cs typeface="Calibri"/>
              </a:rPr>
              <a:t>treatment,</a:t>
            </a:r>
            <a:r>
              <a:rPr sz="1050" spc="30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77179"/>
                </a:solidFill>
                <a:latin typeface="Calibri"/>
                <a:cs typeface="Calibri"/>
              </a:rPr>
              <a:t>diagnosis</a:t>
            </a:r>
            <a:r>
              <a:rPr sz="1050" spc="-45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77179"/>
                </a:solidFill>
                <a:latin typeface="Calibri"/>
                <a:cs typeface="Calibri"/>
              </a:rPr>
              <a:t>and</a:t>
            </a:r>
            <a:r>
              <a:rPr sz="1050" spc="45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677179"/>
                </a:solidFill>
                <a:latin typeface="Calibri"/>
                <a:cs typeface="Calibri"/>
              </a:rPr>
              <a:t>cost.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162675" y="3952811"/>
            <a:ext cx="5348605" cy="871855"/>
            <a:chOff x="6162675" y="3952811"/>
            <a:chExt cx="5348605" cy="871855"/>
          </a:xfrm>
        </p:grpSpPr>
        <p:pic>
          <p:nvPicPr>
            <p:cNvPr id="53" name="object 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91225" y="3981232"/>
              <a:ext cx="5319825" cy="833693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6224651" y="3995800"/>
              <a:ext cx="5257800" cy="762000"/>
            </a:xfrm>
            <a:custGeom>
              <a:avLst/>
              <a:gdLst/>
              <a:ahLst/>
              <a:cxnLst/>
              <a:rect l="l" t="t" r="r" b="b"/>
              <a:pathLst>
                <a:path w="5257800" h="762000">
                  <a:moveTo>
                    <a:pt x="5130800" y="0"/>
                  </a:moveTo>
                  <a:lnTo>
                    <a:pt x="127000" y="0"/>
                  </a:lnTo>
                  <a:lnTo>
                    <a:pt x="77527" y="9967"/>
                  </a:lnTo>
                  <a:lnTo>
                    <a:pt x="37163" y="37163"/>
                  </a:lnTo>
                  <a:lnTo>
                    <a:pt x="9967" y="77527"/>
                  </a:lnTo>
                  <a:lnTo>
                    <a:pt x="0" y="127000"/>
                  </a:lnTo>
                  <a:lnTo>
                    <a:pt x="0" y="634873"/>
                  </a:lnTo>
                  <a:lnTo>
                    <a:pt x="9967" y="684365"/>
                  </a:lnTo>
                  <a:lnTo>
                    <a:pt x="37163" y="724773"/>
                  </a:lnTo>
                  <a:lnTo>
                    <a:pt x="77527" y="752012"/>
                  </a:lnTo>
                  <a:lnTo>
                    <a:pt x="127000" y="762000"/>
                  </a:lnTo>
                  <a:lnTo>
                    <a:pt x="5130800" y="762000"/>
                  </a:lnTo>
                  <a:lnTo>
                    <a:pt x="5180218" y="752012"/>
                  </a:lnTo>
                  <a:lnTo>
                    <a:pt x="5220589" y="724773"/>
                  </a:lnTo>
                  <a:lnTo>
                    <a:pt x="5247814" y="684365"/>
                  </a:lnTo>
                  <a:lnTo>
                    <a:pt x="5257800" y="634873"/>
                  </a:lnTo>
                  <a:lnTo>
                    <a:pt x="5257800" y="127000"/>
                  </a:lnTo>
                  <a:lnTo>
                    <a:pt x="5247814" y="77527"/>
                  </a:lnTo>
                  <a:lnTo>
                    <a:pt x="5220589" y="37163"/>
                  </a:lnTo>
                  <a:lnTo>
                    <a:pt x="5180218" y="9967"/>
                  </a:lnTo>
                  <a:lnTo>
                    <a:pt x="5130800" y="0"/>
                  </a:lnTo>
                  <a:close/>
                </a:path>
              </a:pathLst>
            </a:custGeom>
            <a:solidFill>
              <a:srgbClr val="F8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224651" y="3995800"/>
              <a:ext cx="5257800" cy="762000"/>
            </a:xfrm>
            <a:custGeom>
              <a:avLst/>
              <a:gdLst/>
              <a:ahLst/>
              <a:cxnLst/>
              <a:rect l="l" t="t" r="r" b="b"/>
              <a:pathLst>
                <a:path w="5257800" h="762000">
                  <a:moveTo>
                    <a:pt x="0" y="127000"/>
                  </a:moveTo>
                  <a:lnTo>
                    <a:pt x="9967" y="77527"/>
                  </a:lnTo>
                  <a:lnTo>
                    <a:pt x="37163" y="37163"/>
                  </a:lnTo>
                  <a:lnTo>
                    <a:pt x="77527" y="9967"/>
                  </a:lnTo>
                  <a:lnTo>
                    <a:pt x="127000" y="0"/>
                  </a:lnTo>
                  <a:lnTo>
                    <a:pt x="5130800" y="0"/>
                  </a:lnTo>
                  <a:lnTo>
                    <a:pt x="5180218" y="9967"/>
                  </a:lnTo>
                  <a:lnTo>
                    <a:pt x="5220589" y="37163"/>
                  </a:lnTo>
                  <a:lnTo>
                    <a:pt x="5247814" y="77527"/>
                  </a:lnTo>
                  <a:lnTo>
                    <a:pt x="5257800" y="127000"/>
                  </a:lnTo>
                  <a:lnTo>
                    <a:pt x="5257800" y="634873"/>
                  </a:lnTo>
                  <a:lnTo>
                    <a:pt x="5247814" y="684365"/>
                  </a:lnTo>
                  <a:lnTo>
                    <a:pt x="5220589" y="724773"/>
                  </a:lnTo>
                  <a:lnTo>
                    <a:pt x="5180218" y="752012"/>
                  </a:lnTo>
                  <a:lnTo>
                    <a:pt x="5130800" y="762000"/>
                  </a:lnTo>
                  <a:lnTo>
                    <a:pt x="127000" y="762000"/>
                  </a:lnTo>
                  <a:lnTo>
                    <a:pt x="77527" y="752012"/>
                  </a:lnTo>
                  <a:lnTo>
                    <a:pt x="37163" y="724773"/>
                  </a:lnTo>
                  <a:lnTo>
                    <a:pt x="9967" y="684365"/>
                  </a:lnTo>
                  <a:lnTo>
                    <a:pt x="0" y="634873"/>
                  </a:lnTo>
                  <a:lnTo>
                    <a:pt x="0" y="127000"/>
                  </a:lnTo>
                  <a:close/>
                </a:path>
              </a:pathLst>
            </a:custGeom>
            <a:ln w="9525">
              <a:solidFill>
                <a:srgbClr val="D2E1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62675" y="3952811"/>
              <a:ext cx="176212" cy="871537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6219825" y="3990974"/>
              <a:ext cx="66675" cy="762000"/>
            </a:xfrm>
            <a:custGeom>
              <a:avLst/>
              <a:gdLst/>
              <a:ahLst/>
              <a:cxnLst/>
              <a:rect l="l" t="t" r="r" b="b"/>
              <a:pathLst>
                <a:path w="66675" h="762000">
                  <a:moveTo>
                    <a:pt x="66675" y="0"/>
                  </a:moveTo>
                  <a:lnTo>
                    <a:pt x="0" y="0"/>
                  </a:lnTo>
                  <a:lnTo>
                    <a:pt x="0" y="762000"/>
                  </a:lnTo>
                  <a:lnTo>
                    <a:pt x="66675" y="76200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2F6C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6466204" y="4045871"/>
            <a:ext cx="2770505" cy="55880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550" b="1" spc="-10" dirty="0">
                <a:solidFill>
                  <a:srgbClr val="133755"/>
                </a:solidFill>
                <a:latin typeface="Calibri"/>
                <a:cs typeface="Calibri"/>
              </a:rPr>
              <a:t>PRESCRIPTION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050" spc="-10" dirty="0">
                <a:solidFill>
                  <a:srgbClr val="677179"/>
                </a:solidFill>
                <a:latin typeface="Calibri"/>
                <a:cs typeface="Calibri"/>
              </a:rPr>
              <a:t>Prescription,</a:t>
            </a:r>
            <a:r>
              <a:rPr sz="1050" spc="40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77179"/>
                </a:solidFill>
                <a:latin typeface="Calibri"/>
                <a:cs typeface="Calibri"/>
              </a:rPr>
              <a:t>dosage</a:t>
            </a:r>
            <a:r>
              <a:rPr sz="1050" spc="5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77179"/>
                </a:solidFill>
                <a:latin typeface="Calibri"/>
                <a:cs typeface="Calibri"/>
              </a:rPr>
              <a:t>and</a:t>
            </a:r>
            <a:r>
              <a:rPr sz="1050" spc="-20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77179"/>
                </a:solidFill>
                <a:latin typeface="Calibri"/>
                <a:cs typeface="Calibri"/>
              </a:rPr>
              <a:t>doctor/patient</a:t>
            </a:r>
            <a:r>
              <a:rPr sz="1050" spc="30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77179"/>
                </a:solidFill>
                <a:latin typeface="Calibri"/>
                <a:cs typeface="Calibri"/>
              </a:rPr>
              <a:t>reference.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533400" y="4933950"/>
            <a:ext cx="5348605" cy="881380"/>
            <a:chOff x="533400" y="4933950"/>
            <a:chExt cx="5348605" cy="881380"/>
          </a:xfrm>
        </p:grpSpPr>
        <p:pic>
          <p:nvPicPr>
            <p:cNvPr id="60" name="object 6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1950" y="4962373"/>
              <a:ext cx="5319825" cy="843215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595312" y="4976876"/>
              <a:ext cx="5258435" cy="771525"/>
            </a:xfrm>
            <a:custGeom>
              <a:avLst/>
              <a:gdLst/>
              <a:ahLst/>
              <a:cxnLst/>
              <a:rect l="l" t="t" r="r" b="b"/>
              <a:pathLst>
                <a:path w="5258435" h="771525">
                  <a:moveTo>
                    <a:pt x="5129212" y="0"/>
                  </a:moveTo>
                  <a:lnTo>
                    <a:pt x="128587" y="0"/>
                  </a:lnTo>
                  <a:lnTo>
                    <a:pt x="78534" y="10098"/>
                  </a:lnTo>
                  <a:lnTo>
                    <a:pt x="37661" y="37639"/>
                  </a:lnTo>
                  <a:lnTo>
                    <a:pt x="10104" y="78491"/>
                  </a:lnTo>
                  <a:lnTo>
                    <a:pt x="0" y="128524"/>
                  </a:lnTo>
                  <a:lnTo>
                    <a:pt x="0" y="642874"/>
                  </a:lnTo>
                  <a:lnTo>
                    <a:pt x="10104" y="692926"/>
                  </a:lnTo>
                  <a:lnTo>
                    <a:pt x="37661" y="733799"/>
                  </a:lnTo>
                  <a:lnTo>
                    <a:pt x="78534" y="761356"/>
                  </a:lnTo>
                  <a:lnTo>
                    <a:pt x="128587" y="771461"/>
                  </a:lnTo>
                  <a:lnTo>
                    <a:pt x="5129212" y="771461"/>
                  </a:lnTo>
                  <a:lnTo>
                    <a:pt x="5179264" y="761356"/>
                  </a:lnTo>
                  <a:lnTo>
                    <a:pt x="5220160" y="733799"/>
                  </a:lnTo>
                  <a:lnTo>
                    <a:pt x="5247745" y="692926"/>
                  </a:lnTo>
                  <a:lnTo>
                    <a:pt x="5257863" y="642874"/>
                  </a:lnTo>
                  <a:lnTo>
                    <a:pt x="5257863" y="128524"/>
                  </a:lnTo>
                  <a:lnTo>
                    <a:pt x="5247745" y="78491"/>
                  </a:lnTo>
                  <a:lnTo>
                    <a:pt x="5220160" y="37639"/>
                  </a:lnTo>
                  <a:lnTo>
                    <a:pt x="5179264" y="10098"/>
                  </a:lnTo>
                  <a:lnTo>
                    <a:pt x="5129212" y="0"/>
                  </a:lnTo>
                  <a:close/>
                </a:path>
              </a:pathLst>
            </a:custGeom>
            <a:solidFill>
              <a:srgbClr val="F8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95312" y="4976876"/>
              <a:ext cx="5258435" cy="771525"/>
            </a:xfrm>
            <a:custGeom>
              <a:avLst/>
              <a:gdLst/>
              <a:ahLst/>
              <a:cxnLst/>
              <a:rect l="l" t="t" r="r" b="b"/>
              <a:pathLst>
                <a:path w="5258435" h="771525">
                  <a:moveTo>
                    <a:pt x="0" y="128524"/>
                  </a:moveTo>
                  <a:lnTo>
                    <a:pt x="10104" y="78491"/>
                  </a:lnTo>
                  <a:lnTo>
                    <a:pt x="37661" y="37639"/>
                  </a:lnTo>
                  <a:lnTo>
                    <a:pt x="78534" y="10098"/>
                  </a:lnTo>
                  <a:lnTo>
                    <a:pt x="128587" y="0"/>
                  </a:lnTo>
                  <a:lnTo>
                    <a:pt x="5129212" y="0"/>
                  </a:lnTo>
                  <a:lnTo>
                    <a:pt x="5179264" y="10098"/>
                  </a:lnTo>
                  <a:lnTo>
                    <a:pt x="5220160" y="37639"/>
                  </a:lnTo>
                  <a:lnTo>
                    <a:pt x="5247745" y="78491"/>
                  </a:lnTo>
                  <a:lnTo>
                    <a:pt x="5257863" y="128524"/>
                  </a:lnTo>
                  <a:lnTo>
                    <a:pt x="5257863" y="642874"/>
                  </a:lnTo>
                  <a:lnTo>
                    <a:pt x="5247745" y="692926"/>
                  </a:lnTo>
                  <a:lnTo>
                    <a:pt x="5220160" y="733799"/>
                  </a:lnTo>
                  <a:lnTo>
                    <a:pt x="5179264" y="761356"/>
                  </a:lnTo>
                  <a:lnTo>
                    <a:pt x="5129212" y="771461"/>
                  </a:lnTo>
                  <a:lnTo>
                    <a:pt x="128587" y="771461"/>
                  </a:lnTo>
                  <a:lnTo>
                    <a:pt x="78534" y="761356"/>
                  </a:lnTo>
                  <a:lnTo>
                    <a:pt x="37661" y="733799"/>
                  </a:lnTo>
                  <a:lnTo>
                    <a:pt x="10104" y="692926"/>
                  </a:lnTo>
                  <a:lnTo>
                    <a:pt x="0" y="642874"/>
                  </a:lnTo>
                  <a:lnTo>
                    <a:pt x="0" y="128524"/>
                  </a:lnTo>
                  <a:close/>
                </a:path>
              </a:pathLst>
            </a:custGeom>
            <a:ln w="9525">
              <a:solidFill>
                <a:srgbClr val="D2E1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3400" y="4933950"/>
              <a:ext cx="176212" cy="881062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590550" y="4972050"/>
              <a:ext cx="66675" cy="771525"/>
            </a:xfrm>
            <a:custGeom>
              <a:avLst/>
              <a:gdLst/>
              <a:ahLst/>
              <a:cxnLst/>
              <a:rect l="l" t="t" r="r" b="b"/>
              <a:pathLst>
                <a:path w="66675" h="771525">
                  <a:moveTo>
                    <a:pt x="66675" y="0"/>
                  </a:moveTo>
                  <a:lnTo>
                    <a:pt x="0" y="0"/>
                  </a:lnTo>
                  <a:lnTo>
                    <a:pt x="0" y="771525"/>
                  </a:lnTo>
                  <a:lnTo>
                    <a:pt x="66675" y="77152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1F8F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838200" y="5034947"/>
            <a:ext cx="2326640" cy="55880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550" b="1" spc="-10" dirty="0">
                <a:solidFill>
                  <a:srgbClr val="133755"/>
                </a:solidFill>
                <a:latin typeface="Calibri"/>
                <a:cs typeface="Calibri"/>
              </a:rPr>
              <a:t>MEDICINE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050" dirty="0">
                <a:solidFill>
                  <a:srgbClr val="677179"/>
                </a:solidFill>
                <a:latin typeface="Calibri"/>
                <a:cs typeface="Calibri"/>
              </a:rPr>
              <a:t>Medicine</a:t>
            </a:r>
            <a:r>
              <a:rPr sz="1050" spc="-15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77179"/>
                </a:solidFill>
                <a:latin typeface="Calibri"/>
                <a:cs typeface="Calibri"/>
              </a:rPr>
              <a:t>name,</a:t>
            </a:r>
            <a:r>
              <a:rPr sz="1050" spc="25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77179"/>
                </a:solidFill>
                <a:latin typeface="Calibri"/>
                <a:cs typeface="Calibri"/>
              </a:rPr>
              <a:t>category,</a:t>
            </a:r>
            <a:r>
              <a:rPr sz="1050" spc="-50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77179"/>
                </a:solidFill>
                <a:latin typeface="Calibri"/>
                <a:cs typeface="Calibri"/>
              </a:rPr>
              <a:t>price</a:t>
            </a:r>
            <a:r>
              <a:rPr sz="1050" spc="-10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77179"/>
                </a:solidFill>
                <a:latin typeface="Calibri"/>
                <a:cs typeface="Calibri"/>
              </a:rPr>
              <a:t>and</a:t>
            </a:r>
            <a:r>
              <a:rPr sz="1050" spc="-40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77179"/>
                </a:solidFill>
                <a:latin typeface="Calibri"/>
                <a:cs typeface="Calibri"/>
              </a:rPr>
              <a:t>stock.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6162675" y="4933950"/>
            <a:ext cx="5348605" cy="881380"/>
            <a:chOff x="6162675" y="4933950"/>
            <a:chExt cx="5348605" cy="881380"/>
          </a:xfrm>
        </p:grpSpPr>
        <p:pic>
          <p:nvPicPr>
            <p:cNvPr id="67" name="object 6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91225" y="4962373"/>
              <a:ext cx="5319825" cy="843215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6224651" y="4976876"/>
              <a:ext cx="5257800" cy="771525"/>
            </a:xfrm>
            <a:custGeom>
              <a:avLst/>
              <a:gdLst/>
              <a:ahLst/>
              <a:cxnLst/>
              <a:rect l="l" t="t" r="r" b="b"/>
              <a:pathLst>
                <a:path w="5257800" h="771525">
                  <a:moveTo>
                    <a:pt x="5129149" y="0"/>
                  </a:moveTo>
                  <a:lnTo>
                    <a:pt x="128524" y="0"/>
                  </a:lnTo>
                  <a:lnTo>
                    <a:pt x="78491" y="10098"/>
                  </a:lnTo>
                  <a:lnTo>
                    <a:pt x="37639" y="37639"/>
                  </a:lnTo>
                  <a:lnTo>
                    <a:pt x="10098" y="78491"/>
                  </a:lnTo>
                  <a:lnTo>
                    <a:pt x="0" y="128524"/>
                  </a:lnTo>
                  <a:lnTo>
                    <a:pt x="0" y="642874"/>
                  </a:lnTo>
                  <a:lnTo>
                    <a:pt x="10098" y="692926"/>
                  </a:lnTo>
                  <a:lnTo>
                    <a:pt x="37639" y="733799"/>
                  </a:lnTo>
                  <a:lnTo>
                    <a:pt x="78491" y="761356"/>
                  </a:lnTo>
                  <a:lnTo>
                    <a:pt x="128524" y="771461"/>
                  </a:lnTo>
                  <a:lnTo>
                    <a:pt x="5129149" y="771461"/>
                  </a:lnTo>
                  <a:lnTo>
                    <a:pt x="5179200" y="761356"/>
                  </a:lnTo>
                  <a:lnTo>
                    <a:pt x="5220096" y="733799"/>
                  </a:lnTo>
                  <a:lnTo>
                    <a:pt x="5247681" y="692926"/>
                  </a:lnTo>
                  <a:lnTo>
                    <a:pt x="5257800" y="642874"/>
                  </a:lnTo>
                  <a:lnTo>
                    <a:pt x="5257800" y="128524"/>
                  </a:lnTo>
                  <a:lnTo>
                    <a:pt x="5247681" y="78491"/>
                  </a:lnTo>
                  <a:lnTo>
                    <a:pt x="5220096" y="37639"/>
                  </a:lnTo>
                  <a:lnTo>
                    <a:pt x="5179200" y="10098"/>
                  </a:lnTo>
                  <a:lnTo>
                    <a:pt x="5129149" y="0"/>
                  </a:lnTo>
                  <a:close/>
                </a:path>
              </a:pathLst>
            </a:custGeom>
            <a:solidFill>
              <a:srgbClr val="F8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224651" y="4976876"/>
              <a:ext cx="5257800" cy="771525"/>
            </a:xfrm>
            <a:custGeom>
              <a:avLst/>
              <a:gdLst/>
              <a:ahLst/>
              <a:cxnLst/>
              <a:rect l="l" t="t" r="r" b="b"/>
              <a:pathLst>
                <a:path w="5257800" h="771525">
                  <a:moveTo>
                    <a:pt x="0" y="128524"/>
                  </a:moveTo>
                  <a:lnTo>
                    <a:pt x="10098" y="78491"/>
                  </a:lnTo>
                  <a:lnTo>
                    <a:pt x="37639" y="37639"/>
                  </a:lnTo>
                  <a:lnTo>
                    <a:pt x="78491" y="10098"/>
                  </a:lnTo>
                  <a:lnTo>
                    <a:pt x="128524" y="0"/>
                  </a:lnTo>
                  <a:lnTo>
                    <a:pt x="5129149" y="0"/>
                  </a:lnTo>
                  <a:lnTo>
                    <a:pt x="5179200" y="10098"/>
                  </a:lnTo>
                  <a:lnTo>
                    <a:pt x="5220096" y="37639"/>
                  </a:lnTo>
                  <a:lnTo>
                    <a:pt x="5247681" y="78491"/>
                  </a:lnTo>
                  <a:lnTo>
                    <a:pt x="5257800" y="128524"/>
                  </a:lnTo>
                  <a:lnTo>
                    <a:pt x="5257800" y="642874"/>
                  </a:lnTo>
                  <a:lnTo>
                    <a:pt x="5247681" y="692926"/>
                  </a:lnTo>
                  <a:lnTo>
                    <a:pt x="5220096" y="733799"/>
                  </a:lnTo>
                  <a:lnTo>
                    <a:pt x="5179200" y="761356"/>
                  </a:lnTo>
                  <a:lnTo>
                    <a:pt x="5129149" y="771461"/>
                  </a:lnTo>
                  <a:lnTo>
                    <a:pt x="128524" y="771461"/>
                  </a:lnTo>
                  <a:lnTo>
                    <a:pt x="78491" y="761356"/>
                  </a:lnTo>
                  <a:lnTo>
                    <a:pt x="37639" y="733799"/>
                  </a:lnTo>
                  <a:lnTo>
                    <a:pt x="10098" y="692926"/>
                  </a:lnTo>
                  <a:lnTo>
                    <a:pt x="0" y="642874"/>
                  </a:lnTo>
                  <a:lnTo>
                    <a:pt x="0" y="128524"/>
                  </a:lnTo>
                  <a:close/>
                </a:path>
              </a:pathLst>
            </a:custGeom>
            <a:ln w="9525">
              <a:solidFill>
                <a:srgbClr val="D2E1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62675" y="4933950"/>
              <a:ext cx="176212" cy="881062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6219825" y="4972050"/>
              <a:ext cx="66675" cy="771525"/>
            </a:xfrm>
            <a:custGeom>
              <a:avLst/>
              <a:gdLst/>
              <a:ahLst/>
              <a:cxnLst/>
              <a:rect l="l" t="t" r="r" b="b"/>
              <a:pathLst>
                <a:path w="66675" h="771525">
                  <a:moveTo>
                    <a:pt x="66675" y="0"/>
                  </a:moveTo>
                  <a:lnTo>
                    <a:pt x="0" y="0"/>
                  </a:lnTo>
                  <a:lnTo>
                    <a:pt x="0" y="771525"/>
                  </a:lnTo>
                  <a:lnTo>
                    <a:pt x="66675" y="77152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2F6C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6466204" y="5034947"/>
            <a:ext cx="2533015" cy="55880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550" b="1" spc="-10" dirty="0">
                <a:solidFill>
                  <a:srgbClr val="133755"/>
                </a:solidFill>
                <a:latin typeface="Calibri"/>
                <a:cs typeface="Calibri"/>
              </a:rPr>
              <a:t>BILLING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050" dirty="0">
                <a:solidFill>
                  <a:srgbClr val="677179"/>
                </a:solidFill>
                <a:latin typeface="Calibri"/>
                <a:cs typeface="Calibri"/>
              </a:rPr>
              <a:t>Patient</a:t>
            </a:r>
            <a:r>
              <a:rPr sz="1050" spc="-15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77179"/>
                </a:solidFill>
                <a:latin typeface="Calibri"/>
                <a:cs typeface="Calibri"/>
              </a:rPr>
              <a:t>bill,</a:t>
            </a:r>
            <a:r>
              <a:rPr sz="1050" spc="-50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77179"/>
                </a:solidFill>
                <a:latin typeface="Calibri"/>
                <a:cs typeface="Calibri"/>
              </a:rPr>
              <a:t>amount,</a:t>
            </a:r>
            <a:r>
              <a:rPr sz="1050" spc="10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77179"/>
                </a:solidFill>
                <a:latin typeface="Calibri"/>
                <a:cs typeface="Calibri"/>
              </a:rPr>
              <a:t>date</a:t>
            </a:r>
            <a:r>
              <a:rPr sz="1050" spc="-25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77179"/>
                </a:solidFill>
                <a:latin typeface="Calibri"/>
                <a:cs typeface="Calibri"/>
              </a:rPr>
              <a:t>and</a:t>
            </a:r>
            <a:r>
              <a:rPr sz="1050" spc="20" dirty="0">
                <a:solidFill>
                  <a:srgbClr val="67717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77179"/>
                </a:solidFill>
                <a:latin typeface="Calibri"/>
                <a:cs typeface="Calibri"/>
              </a:rPr>
              <a:t>payment </a:t>
            </a:r>
            <a:r>
              <a:rPr sz="1050" spc="-10" dirty="0">
                <a:solidFill>
                  <a:srgbClr val="677179"/>
                </a:solidFill>
                <a:latin typeface="Calibri"/>
                <a:cs typeface="Calibri"/>
              </a:rPr>
              <a:t>status.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1557634" y="6460807"/>
            <a:ext cx="7874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1" spc="-50" dirty="0">
                <a:solidFill>
                  <a:srgbClr val="677179"/>
                </a:solidFill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542912" y="761096"/>
            <a:ext cx="11025505" cy="111125"/>
            <a:chOff x="542912" y="761096"/>
            <a:chExt cx="11025505" cy="111125"/>
          </a:xfrm>
        </p:grpSpPr>
        <p:pic>
          <p:nvPicPr>
            <p:cNvPr id="75" name="object 7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2912" y="761096"/>
              <a:ext cx="11025275" cy="110938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571500" y="771525"/>
              <a:ext cx="10972800" cy="47625"/>
            </a:xfrm>
            <a:custGeom>
              <a:avLst/>
              <a:gdLst/>
              <a:ahLst/>
              <a:cxnLst/>
              <a:rect l="l" t="t" r="r" b="b"/>
              <a:pathLst>
                <a:path w="10972800" h="47625">
                  <a:moveTo>
                    <a:pt x="10972800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10972800" y="47625"/>
                  </a:lnTo>
                  <a:lnTo>
                    <a:pt x="10972800" y="0"/>
                  </a:lnTo>
                  <a:close/>
                </a:path>
              </a:pathLst>
            </a:custGeom>
            <a:solidFill>
              <a:srgbClr val="3C7C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4635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130"/>
              </a:spcBef>
            </a:pPr>
            <a:r>
              <a:rPr spc="-180" dirty="0"/>
              <a:t>5.1</a:t>
            </a:r>
            <a:r>
              <a:rPr spc="-240" dirty="0"/>
              <a:t> </a:t>
            </a:r>
            <a:r>
              <a:rPr spc="-105" dirty="0"/>
              <a:t>Entities</a:t>
            </a:r>
            <a:r>
              <a:rPr spc="-250" dirty="0"/>
              <a:t> </a:t>
            </a:r>
            <a:r>
              <a:rPr spc="-105" dirty="0"/>
              <a:t>and</a:t>
            </a:r>
            <a:r>
              <a:rPr spc="-275" dirty="0"/>
              <a:t> </a:t>
            </a:r>
            <a:r>
              <a:rPr spc="-95" dirty="0"/>
              <a:t>Attributes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1040" y="957834"/>
            <a:ext cx="3402329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dirty="0">
                <a:solidFill>
                  <a:srgbClr val="5F6973"/>
                </a:solidFill>
                <a:latin typeface="Trebuchet MS"/>
                <a:cs typeface="Trebuchet MS"/>
              </a:rPr>
              <a:t>Ten</a:t>
            </a:r>
            <a:r>
              <a:rPr sz="1250" spc="-55" dirty="0">
                <a:solidFill>
                  <a:srgbClr val="5F6973"/>
                </a:solidFill>
                <a:latin typeface="Trebuchet MS"/>
                <a:cs typeface="Trebuchet MS"/>
              </a:rPr>
              <a:t> </a:t>
            </a:r>
            <a:r>
              <a:rPr sz="1250" spc="-25" dirty="0">
                <a:solidFill>
                  <a:srgbClr val="5F6973"/>
                </a:solidFill>
                <a:latin typeface="Trebuchet MS"/>
                <a:cs typeface="Trebuchet MS"/>
              </a:rPr>
              <a:t>entities </a:t>
            </a:r>
            <a:r>
              <a:rPr sz="1250" spc="-35" dirty="0">
                <a:solidFill>
                  <a:srgbClr val="5F6973"/>
                </a:solidFill>
                <a:latin typeface="Trebuchet MS"/>
                <a:cs typeface="Trebuchet MS"/>
              </a:rPr>
              <a:t>identified</a:t>
            </a:r>
            <a:r>
              <a:rPr sz="1250" spc="-55" dirty="0">
                <a:solidFill>
                  <a:srgbClr val="5F6973"/>
                </a:solidFill>
                <a:latin typeface="Trebuchet MS"/>
                <a:cs typeface="Trebuchet MS"/>
              </a:rPr>
              <a:t> </a:t>
            </a:r>
            <a:r>
              <a:rPr sz="1250" spc="-60" dirty="0">
                <a:solidFill>
                  <a:srgbClr val="5F6973"/>
                </a:solidFill>
                <a:latin typeface="Trebuchet MS"/>
                <a:cs typeface="Trebuchet MS"/>
              </a:rPr>
              <a:t>for</a:t>
            </a:r>
            <a:r>
              <a:rPr sz="1250" spc="-65" dirty="0">
                <a:solidFill>
                  <a:srgbClr val="5F6973"/>
                </a:solidFill>
                <a:latin typeface="Trebuchet MS"/>
                <a:cs typeface="Trebuchet MS"/>
              </a:rPr>
              <a:t> </a:t>
            </a:r>
            <a:r>
              <a:rPr sz="1250" spc="-10" dirty="0">
                <a:solidFill>
                  <a:srgbClr val="5F6973"/>
                </a:solidFill>
                <a:latin typeface="Trebuchet MS"/>
                <a:cs typeface="Trebuchet MS"/>
              </a:rPr>
              <a:t>the</a:t>
            </a:r>
            <a:r>
              <a:rPr sz="1250" spc="-95" dirty="0">
                <a:solidFill>
                  <a:srgbClr val="5F6973"/>
                </a:solidFill>
                <a:latin typeface="Trebuchet MS"/>
                <a:cs typeface="Trebuchet MS"/>
              </a:rPr>
              <a:t> </a:t>
            </a:r>
            <a:r>
              <a:rPr sz="1250" dirty="0">
                <a:solidFill>
                  <a:srgbClr val="5F6973"/>
                </a:solidFill>
                <a:latin typeface="Trebuchet MS"/>
                <a:cs typeface="Trebuchet MS"/>
              </a:rPr>
              <a:t>proposed</a:t>
            </a:r>
            <a:r>
              <a:rPr sz="1250" spc="-45" dirty="0">
                <a:solidFill>
                  <a:srgbClr val="5F6973"/>
                </a:solidFill>
                <a:latin typeface="Trebuchet MS"/>
                <a:cs typeface="Trebuchet MS"/>
              </a:rPr>
              <a:t> </a:t>
            </a:r>
            <a:r>
              <a:rPr sz="1250" spc="-10" dirty="0">
                <a:solidFill>
                  <a:srgbClr val="5F6973"/>
                </a:solidFill>
                <a:latin typeface="Trebuchet MS"/>
                <a:cs typeface="Trebuchet MS"/>
              </a:rPr>
              <a:t>database</a:t>
            </a:r>
            <a:endParaRPr sz="125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61962" y="1246758"/>
            <a:ext cx="11025505" cy="92075"/>
            <a:chOff x="561962" y="1246758"/>
            <a:chExt cx="11025505" cy="920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1962" y="1246758"/>
              <a:ext cx="11025275" cy="920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0550" y="1257299"/>
              <a:ext cx="10972800" cy="28575"/>
            </a:xfrm>
            <a:custGeom>
              <a:avLst/>
              <a:gdLst/>
              <a:ahLst/>
              <a:cxnLst/>
              <a:rect l="l" t="t" r="r" b="b"/>
              <a:pathLst>
                <a:path w="10972800" h="28575">
                  <a:moveTo>
                    <a:pt x="10972800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10972800" y="28575"/>
                  </a:lnTo>
                  <a:lnTo>
                    <a:pt x="10972800" y="0"/>
                  </a:lnTo>
                  <a:close/>
                </a:path>
              </a:pathLst>
            </a:custGeom>
            <a:solidFill>
              <a:srgbClr val="3C7C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249513"/>
              </p:ext>
            </p:extLst>
          </p:nvPr>
        </p:nvGraphicFramePr>
        <p:xfrm>
          <a:off x="588009" y="1365250"/>
          <a:ext cx="10972800" cy="49352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18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5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4069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Entity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Key</a:t>
                      </a:r>
                      <a:r>
                        <a:rPr sz="28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attributes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133755"/>
                          </a:solidFill>
                          <a:latin typeface="Calibri"/>
                          <a:cs typeface="Calibri"/>
                        </a:rPr>
                        <a:t>DOCTOR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Doctor_ID</a:t>
                      </a:r>
                      <a:r>
                        <a:rPr sz="1800" spc="6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(PK)</a:t>
                      </a:r>
                      <a:r>
                        <a:rPr sz="1800" spc="4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•</a:t>
                      </a:r>
                      <a:r>
                        <a:rPr sz="1800" spc="8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r>
                        <a:rPr sz="1800" spc="8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•</a:t>
                      </a:r>
                      <a:r>
                        <a:rPr sz="1800" spc="8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Specialization</a:t>
                      </a:r>
                      <a:r>
                        <a:rPr sz="1800" spc="5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•</a:t>
                      </a:r>
                      <a:r>
                        <a:rPr sz="1800" spc="-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Phone</a:t>
                      </a:r>
                      <a:r>
                        <a:rPr sz="1800" spc="8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•</a:t>
                      </a:r>
                      <a:r>
                        <a:rPr sz="1800" spc="8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Department_ID</a:t>
                      </a:r>
                      <a:r>
                        <a:rPr sz="1800" spc="8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(FK)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0590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133755"/>
                          </a:solidFill>
                          <a:latin typeface="Calibri"/>
                          <a:cs typeface="Calibri"/>
                        </a:rPr>
                        <a:t>PATIENT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Patient_ID</a:t>
                      </a:r>
                      <a:r>
                        <a:rPr sz="1800" spc="6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(PK)</a:t>
                      </a:r>
                      <a:r>
                        <a:rPr sz="1800" spc="6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•</a:t>
                      </a:r>
                      <a:r>
                        <a:rPr sz="1800" spc="10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r>
                        <a:rPr sz="1800" spc="10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•</a:t>
                      </a:r>
                      <a:r>
                        <a:rPr sz="1800" spc="10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Age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•</a:t>
                      </a:r>
                      <a:r>
                        <a:rPr sz="1800" spc="10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Gender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•</a:t>
                      </a:r>
                      <a:r>
                        <a:rPr sz="1800" spc="1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Mobile</a:t>
                      </a:r>
                      <a:r>
                        <a:rPr sz="1800" spc="10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•</a:t>
                      </a:r>
                      <a:r>
                        <a:rPr sz="1800" spc="10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Address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133755"/>
                          </a:solidFill>
                          <a:latin typeface="Calibri"/>
                          <a:cs typeface="Calibri"/>
                        </a:rPr>
                        <a:t>DEPARTMENT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Department_ID</a:t>
                      </a:r>
                      <a:r>
                        <a:rPr sz="1800" spc="114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(PK)</a:t>
                      </a:r>
                      <a:r>
                        <a:rPr sz="1800" spc="7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•</a:t>
                      </a:r>
                      <a:r>
                        <a:rPr sz="1800" spc="8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Department_Name</a:t>
                      </a:r>
                      <a:r>
                        <a:rPr sz="1800" spc="6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•</a:t>
                      </a:r>
                      <a:r>
                        <a:rPr sz="1800" spc="12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Location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2145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10" dirty="0">
                          <a:solidFill>
                            <a:srgbClr val="133755"/>
                          </a:solidFill>
                          <a:latin typeface="Calibri"/>
                          <a:cs typeface="Calibri"/>
                        </a:rPr>
                        <a:t>ADMISSION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Admission_ID</a:t>
                      </a:r>
                      <a:r>
                        <a:rPr sz="1800" spc="8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(PK)</a:t>
                      </a:r>
                      <a:r>
                        <a:rPr sz="1800" spc="9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•</a:t>
                      </a:r>
                      <a:r>
                        <a:rPr sz="1800" spc="1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Patient_ID</a:t>
                      </a:r>
                      <a:r>
                        <a:rPr sz="1800" spc="9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(FK)</a:t>
                      </a:r>
                      <a:r>
                        <a:rPr sz="1800" spc="9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•</a:t>
                      </a:r>
                      <a:r>
                        <a:rPr sz="1800" spc="13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Room_ID</a:t>
                      </a:r>
                      <a:r>
                        <a:rPr sz="1800" spc="1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(FK)</a:t>
                      </a:r>
                      <a:r>
                        <a:rPr sz="1800" spc="9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•</a:t>
                      </a:r>
                      <a:r>
                        <a:rPr sz="1800" spc="13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Admission_Date</a:t>
                      </a:r>
                      <a:r>
                        <a:rPr sz="1800" spc="16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•</a:t>
                      </a:r>
                      <a:r>
                        <a:rPr sz="1800" spc="13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Status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10" dirty="0">
                          <a:solidFill>
                            <a:srgbClr val="133755"/>
                          </a:solidFill>
                          <a:latin typeface="Calibri"/>
                          <a:cs typeface="Calibri"/>
                        </a:rPr>
                        <a:t>APPOINTMENT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10" dirty="0" err="1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Appointment_ID</a:t>
                      </a:r>
                      <a:r>
                        <a:rPr sz="1800" spc="7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(PK)</a:t>
                      </a:r>
                      <a:r>
                        <a:rPr sz="1800" spc="5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•</a:t>
                      </a:r>
                      <a:r>
                        <a:rPr sz="1800" spc="3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Patient_ID</a:t>
                      </a:r>
                      <a:r>
                        <a:rPr sz="1800" spc="6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(FK)</a:t>
                      </a:r>
                      <a:r>
                        <a:rPr sz="1800" spc="4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•</a:t>
                      </a:r>
                      <a:r>
                        <a:rPr sz="1800" spc="7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Doctor_ID</a:t>
                      </a:r>
                      <a:r>
                        <a:rPr sz="1800" spc="5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(FK)</a:t>
                      </a:r>
                      <a:r>
                        <a:rPr sz="1800" spc="4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•</a:t>
                      </a:r>
                      <a:r>
                        <a:rPr sz="1800" spc="8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Date</a:t>
                      </a:r>
                      <a:r>
                        <a:rPr sz="1800" spc="8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•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Time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20" dirty="0">
                          <a:solidFill>
                            <a:srgbClr val="133755"/>
                          </a:solidFill>
                          <a:latin typeface="Calibri"/>
                          <a:cs typeface="Calibri"/>
                        </a:rPr>
                        <a:t>ROOM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Room_ID</a:t>
                      </a:r>
                      <a:r>
                        <a:rPr sz="1800" spc="5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(PK)</a:t>
                      </a:r>
                      <a:r>
                        <a:rPr sz="1800" spc="6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•</a:t>
                      </a:r>
                      <a:r>
                        <a:rPr sz="1800" spc="6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Room_Number</a:t>
                      </a:r>
                      <a:r>
                        <a:rPr sz="1800" spc="3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•</a:t>
                      </a:r>
                      <a:r>
                        <a:rPr sz="1800" spc="7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Room_Type</a:t>
                      </a:r>
                      <a:r>
                        <a:rPr sz="1800" spc="8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•</a:t>
                      </a:r>
                      <a:r>
                        <a:rPr sz="1800" spc="10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status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4635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130"/>
              </a:spcBef>
            </a:pPr>
            <a:r>
              <a:rPr spc="-180" dirty="0"/>
              <a:t>5.2</a:t>
            </a:r>
            <a:r>
              <a:rPr spc="-240" dirty="0"/>
              <a:t> </a:t>
            </a:r>
            <a:r>
              <a:rPr spc="-105" dirty="0"/>
              <a:t>Entities</a:t>
            </a:r>
            <a:r>
              <a:rPr spc="-250" dirty="0"/>
              <a:t> </a:t>
            </a:r>
            <a:r>
              <a:rPr spc="-105" dirty="0"/>
              <a:t>and</a:t>
            </a:r>
            <a:r>
              <a:rPr spc="-275" dirty="0"/>
              <a:t> </a:t>
            </a:r>
            <a:r>
              <a:rPr spc="-95" dirty="0"/>
              <a:t>Attributes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1040" y="957834"/>
            <a:ext cx="3402329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dirty="0">
                <a:solidFill>
                  <a:srgbClr val="5F6973"/>
                </a:solidFill>
                <a:latin typeface="Trebuchet MS"/>
                <a:cs typeface="Trebuchet MS"/>
              </a:rPr>
              <a:t>Ten</a:t>
            </a:r>
            <a:r>
              <a:rPr sz="1250" spc="-55" dirty="0">
                <a:solidFill>
                  <a:srgbClr val="5F6973"/>
                </a:solidFill>
                <a:latin typeface="Trebuchet MS"/>
                <a:cs typeface="Trebuchet MS"/>
              </a:rPr>
              <a:t> </a:t>
            </a:r>
            <a:r>
              <a:rPr sz="1250" spc="-25" dirty="0">
                <a:solidFill>
                  <a:srgbClr val="5F6973"/>
                </a:solidFill>
                <a:latin typeface="Trebuchet MS"/>
                <a:cs typeface="Trebuchet MS"/>
              </a:rPr>
              <a:t>entities </a:t>
            </a:r>
            <a:r>
              <a:rPr sz="1250" spc="-35" dirty="0">
                <a:solidFill>
                  <a:srgbClr val="5F6973"/>
                </a:solidFill>
                <a:latin typeface="Trebuchet MS"/>
                <a:cs typeface="Trebuchet MS"/>
              </a:rPr>
              <a:t>identified</a:t>
            </a:r>
            <a:r>
              <a:rPr sz="1250" spc="-55" dirty="0">
                <a:solidFill>
                  <a:srgbClr val="5F6973"/>
                </a:solidFill>
                <a:latin typeface="Trebuchet MS"/>
                <a:cs typeface="Trebuchet MS"/>
              </a:rPr>
              <a:t> </a:t>
            </a:r>
            <a:r>
              <a:rPr sz="1250" spc="-60" dirty="0">
                <a:solidFill>
                  <a:srgbClr val="5F6973"/>
                </a:solidFill>
                <a:latin typeface="Trebuchet MS"/>
                <a:cs typeface="Trebuchet MS"/>
              </a:rPr>
              <a:t>for</a:t>
            </a:r>
            <a:r>
              <a:rPr sz="1250" spc="-65" dirty="0">
                <a:solidFill>
                  <a:srgbClr val="5F6973"/>
                </a:solidFill>
                <a:latin typeface="Trebuchet MS"/>
                <a:cs typeface="Trebuchet MS"/>
              </a:rPr>
              <a:t> </a:t>
            </a:r>
            <a:r>
              <a:rPr sz="1250" spc="-10" dirty="0">
                <a:solidFill>
                  <a:srgbClr val="5F6973"/>
                </a:solidFill>
                <a:latin typeface="Trebuchet MS"/>
                <a:cs typeface="Trebuchet MS"/>
              </a:rPr>
              <a:t>the</a:t>
            </a:r>
            <a:r>
              <a:rPr sz="1250" spc="-95" dirty="0">
                <a:solidFill>
                  <a:srgbClr val="5F6973"/>
                </a:solidFill>
                <a:latin typeface="Trebuchet MS"/>
                <a:cs typeface="Trebuchet MS"/>
              </a:rPr>
              <a:t> </a:t>
            </a:r>
            <a:r>
              <a:rPr sz="1250" dirty="0">
                <a:solidFill>
                  <a:srgbClr val="5F6973"/>
                </a:solidFill>
                <a:latin typeface="Trebuchet MS"/>
                <a:cs typeface="Trebuchet MS"/>
              </a:rPr>
              <a:t>proposed</a:t>
            </a:r>
            <a:r>
              <a:rPr sz="1250" spc="-45" dirty="0">
                <a:solidFill>
                  <a:srgbClr val="5F6973"/>
                </a:solidFill>
                <a:latin typeface="Trebuchet MS"/>
                <a:cs typeface="Trebuchet MS"/>
              </a:rPr>
              <a:t> </a:t>
            </a:r>
            <a:r>
              <a:rPr sz="1250" spc="-10" dirty="0">
                <a:solidFill>
                  <a:srgbClr val="5F6973"/>
                </a:solidFill>
                <a:latin typeface="Trebuchet MS"/>
                <a:cs typeface="Trebuchet MS"/>
              </a:rPr>
              <a:t>database</a:t>
            </a:r>
            <a:endParaRPr sz="125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61962" y="1246758"/>
            <a:ext cx="11025505" cy="92075"/>
            <a:chOff x="561962" y="1246758"/>
            <a:chExt cx="11025505" cy="920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1962" y="1246758"/>
              <a:ext cx="11025275" cy="920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0550" y="1257299"/>
              <a:ext cx="10972800" cy="28575"/>
            </a:xfrm>
            <a:custGeom>
              <a:avLst/>
              <a:gdLst/>
              <a:ahLst/>
              <a:cxnLst/>
              <a:rect l="l" t="t" r="r" b="b"/>
              <a:pathLst>
                <a:path w="10972800" h="28575">
                  <a:moveTo>
                    <a:pt x="10972800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10972800" y="28575"/>
                  </a:lnTo>
                  <a:lnTo>
                    <a:pt x="10972800" y="0"/>
                  </a:lnTo>
                  <a:close/>
                </a:path>
              </a:pathLst>
            </a:custGeom>
            <a:solidFill>
              <a:srgbClr val="3C7C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925730"/>
              </p:ext>
            </p:extLst>
          </p:nvPr>
        </p:nvGraphicFramePr>
        <p:xfrm>
          <a:off x="588008" y="1365250"/>
          <a:ext cx="11025276" cy="49593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12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2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83731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Entity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Key</a:t>
                      </a:r>
                      <a:r>
                        <a:rPr sz="2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attributes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4151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10" dirty="0">
                          <a:solidFill>
                            <a:srgbClr val="133755"/>
                          </a:solidFill>
                          <a:latin typeface="Calibri"/>
                          <a:cs typeface="Calibri"/>
                        </a:rPr>
                        <a:t>TREATMENT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Treatment_ID</a:t>
                      </a:r>
                      <a:r>
                        <a:rPr sz="1800" spc="2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(PK)</a:t>
                      </a:r>
                      <a:r>
                        <a:rPr sz="1800" spc="5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•</a:t>
                      </a:r>
                      <a:r>
                        <a:rPr sz="1800" spc="7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Patient_ID</a:t>
                      </a:r>
                      <a:r>
                        <a:rPr sz="1800" spc="6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(FK)</a:t>
                      </a:r>
                      <a:r>
                        <a:rPr sz="1800" spc="6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•</a:t>
                      </a:r>
                      <a:r>
                        <a:rPr sz="1800" spc="9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Doctor_ID</a:t>
                      </a:r>
                      <a:r>
                        <a:rPr sz="1800" spc="7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(FK)</a:t>
                      </a:r>
                      <a:r>
                        <a:rPr sz="1800" spc="6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•</a:t>
                      </a:r>
                      <a:r>
                        <a:rPr sz="1800" spc="10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Treatment</a:t>
                      </a:r>
                      <a:r>
                        <a:rPr sz="1800" spc="2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r>
                        <a:rPr sz="1800" spc="10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•</a:t>
                      </a:r>
                      <a:r>
                        <a:rPr sz="1800" spc="1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Cost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3165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133755"/>
                          </a:solidFill>
                          <a:latin typeface="Calibri"/>
                          <a:cs typeface="Calibri"/>
                        </a:rPr>
                        <a:t>MEDICINE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Medicine_ID</a:t>
                      </a:r>
                      <a:r>
                        <a:rPr sz="1800" spc="13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(PK)</a:t>
                      </a:r>
                      <a:r>
                        <a:rPr sz="1800" spc="9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•</a:t>
                      </a:r>
                      <a:r>
                        <a:rPr sz="1800" spc="14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Medicine</a:t>
                      </a:r>
                      <a:r>
                        <a:rPr sz="1800" spc="14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r>
                        <a:rPr sz="1800" spc="3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•</a:t>
                      </a:r>
                      <a:r>
                        <a:rPr sz="1800" spc="14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Category</a:t>
                      </a:r>
                      <a:r>
                        <a:rPr sz="1800" spc="9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•</a:t>
                      </a:r>
                      <a:r>
                        <a:rPr sz="1800" spc="4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Price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4151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10" dirty="0">
                          <a:solidFill>
                            <a:srgbClr val="133755"/>
                          </a:solidFill>
                          <a:latin typeface="Calibri"/>
                          <a:cs typeface="Calibri"/>
                        </a:rPr>
                        <a:t>PRESCRIPTION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Prescription_ID</a:t>
                      </a:r>
                      <a:r>
                        <a:rPr sz="1800" spc="1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(PK)</a:t>
                      </a:r>
                      <a:r>
                        <a:rPr sz="1800" spc="9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•</a:t>
                      </a:r>
                      <a:r>
                        <a:rPr sz="1800" spc="9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Patient_ID</a:t>
                      </a:r>
                      <a:r>
                        <a:rPr sz="1800" spc="9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(FK)</a:t>
                      </a:r>
                      <a:r>
                        <a:rPr sz="1800" spc="9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•</a:t>
                      </a:r>
                      <a:r>
                        <a:rPr sz="1800" spc="114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Doctor_ID</a:t>
                      </a:r>
                      <a:r>
                        <a:rPr sz="1800" spc="1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(FK)</a:t>
                      </a:r>
                      <a:r>
                        <a:rPr sz="1800" spc="9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•</a:t>
                      </a:r>
                      <a:r>
                        <a:rPr sz="1800" spc="13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Date</a:t>
                      </a:r>
                      <a:r>
                        <a:rPr sz="1800" spc="13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•</a:t>
                      </a:r>
                      <a:r>
                        <a:rPr sz="1800" spc="3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Dosage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4151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133755"/>
                          </a:solidFill>
                          <a:latin typeface="Calibri"/>
                          <a:cs typeface="Calibri"/>
                        </a:rPr>
                        <a:t>BILLING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Bill_ID</a:t>
                      </a:r>
                      <a:r>
                        <a:rPr sz="1800" spc="8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(PK)</a:t>
                      </a:r>
                      <a:r>
                        <a:rPr sz="1800" spc="4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•</a:t>
                      </a:r>
                      <a:r>
                        <a:rPr sz="1800" spc="5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Patient_ID</a:t>
                      </a:r>
                      <a:r>
                        <a:rPr sz="1800" spc="5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(FK)</a:t>
                      </a:r>
                      <a:r>
                        <a:rPr sz="1800" spc="5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•</a:t>
                      </a:r>
                      <a:r>
                        <a:rPr sz="1800" spc="8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Amount</a:t>
                      </a:r>
                      <a:r>
                        <a:rPr sz="1800" spc="1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•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Bill</a:t>
                      </a:r>
                      <a:r>
                        <a:rPr sz="1800" spc="5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Date</a:t>
                      </a:r>
                      <a:r>
                        <a:rPr sz="180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•</a:t>
                      </a:r>
                      <a:r>
                        <a:rPr sz="1800" spc="8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Payment</a:t>
                      </a:r>
                      <a:r>
                        <a:rPr sz="1800" spc="15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677179"/>
                          </a:solidFill>
                          <a:latin typeface="Calibri"/>
                          <a:cs typeface="Calibri"/>
                        </a:rPr>
                        <a:t>Status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4635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130"/>
              </a:spcBef>
            </a:pPr>
            <a:r>
              <a:rPr spc="-180" dirty="0"/>
              <a:t>6.1</a:t>
            </a:r>
            <a:r>
              <a:rPr spc="-240" dirty="0"/>
              <a:t> </a:t>
            </a:r>
            <a:r>
              <a:rPr spc="-75" dirty="0"/>
              <a:t>Relationships</a:t>
            </a:r>
            <a:r>
              <a:rPr spc="-185" dirty="0"/>
              <a:t> </a:t>
            </a:r>
            <a:r>
              <a:rPr spc="-125" dirty="0"/>
              <a:t>and</a:t>
            </a:r>
            <a:r>
              <a:rPr spc="-195" dirty="0"/>
              <a:t> </a:t>
            </a:r>
            <a:r>
              <a:rPr spc="-80" dirty="0"/>
              <a:t>Cardinality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61962" y="1065843"/>
            <a:ext cx="11025505" cy="101600"/>
            <a:chOff x="561962" y="1065843"/>
            <a:chExt cx="11025505" cy="101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1962" y="1065843"/>
              <a:ext cx="11025275" cy="1015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90550" y="1076325"/>
              <a:ext cx="10972800" cy="38100"/>
            </a:xfrm>
            <a:custGeom>
              <a:avLst/>
              <a:gdLst/>
              <a:ahLst/>
              <a:cxnLst/>
              <a:rect l="l" t="t" r="r" b="b"/>
              <a:pathLst>
                <a:path w="10972800" h="38100">
                  <a:moveTo>
                    <a:pt x="109728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0972800" y="38100"/>
                  </a:lnTo>
                  <a:lnTo>
                    <a:pt x="10972800" y="0"/>
                  </a:lnTo>
                  <a:close/>
                </a:path>
              </a:pathLst>
            </a:custGeom>
            <a:solidFill>
              <a:srgbClr val="3C7C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1550" y="1943036"/>
            <a:ext cx="319087" cy="27146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1550" y="2543111"/>
            <a:ext cx="319087" cy="2714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2025" y="3143186"/>
            <a:ext cx="319087" cy="27146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2025" y="3790886"/>
            <a:ext cx="319087" cy="27146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6775" y="4390961"/>
            <a:ext cx="319087" cy="27146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2025" y="5000688"/>
            <a:ext cx="319087" cy="27146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1550" y="5600700"/>
            <a:ext cx="319087" cy="271462"/>
          </a:xfrm>
          <a:prstGeom prst="rect">
            <a:avLst/>
          </a:prstGeom>
        </p:spPr>
      </p:pic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496569" y="1319530"/>
          <a:ext cx="11202034" cy="4876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0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3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2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55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030">
                <a:tc gridSpan="2"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Relationship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Cardinality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Meaning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DOCTOR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DEPARTMENT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5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550" spc="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sz="1550" spc="-15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M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Many</a:t>
                      </a:r>
                      <a:r>
                        <a:rPr sz="1400" spc="-2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doctors</a:t>
                      </a:r>
                      <a:r>
                        <a:rPr sz="1400" spc="-7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belong</a:t>
                      </a:r>
                      <a:r>
                        <a:rPr sz="1400" spc="-4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5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one</a:t>
                      </a:r>
                      <a:r>
                        <a:rPr sz="14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department.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95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DOCTOR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0980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95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APPOINTMENT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5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550" spc="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sz="1550" spc="-15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M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One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doctor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many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appointments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33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5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PATIENT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1615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5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APPOINTMENT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550" spc="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sz="1550" spc="-15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M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One</a:t>
                      </a:r>
                      <a:r>
                        <a:rPr sz="1400" spc="-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patient</a:t>
                      </a:r>
                      <a:r>
                        <a:rPr sz="1400" spc="-6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can</a:t>
                      </a:r>
                      <a:r>
                        <a:rPr sz="1400" spc="-4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have</a:t>
                      </a:r>
                      <a:r>
                        <a:rPr sz="1400" spc="-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many</a:t>
                      </a:r>
                      <a:r>
                        <a:rPr sz="14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appointments.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5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PATIENT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5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ADMISSION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5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550" spc="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sz="1550" spc="-15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M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One</a:t>
                      </a:r>
                      <a:r>
                        <a:rPr sz="1400" spc="-1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patient</a:t>
                      </a:r>
                      <a:r>
                        <a:rPr sz="1400" spc="-7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can</a:t>
                      </a:r>
                      <a:r>
                        <a:rPr sz="1400" spc="-4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have</a:t>
                      </a:r>
                      <a:r>
                        <a:rPr sz="1400" spc="-1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many</a:t>
                      </a:r>
                      <a:r>
                        <a:rPr sz="1400" spc="-2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admission</a:t>
                      </a:r>
                      <a:r>
                        <a:rPr sz="1400" spc="-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records.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06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950" spc="-2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ROOM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95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ADMISSION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5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550" spc="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sz="1550" spc="-15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M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A room</a:t>
                      </a:r>
                      <a:r>
                        <a:rPr sz="1100" spc="-1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can</a:t>
                      </a:r>
                      <a:r>
                        <a:rPr sz="11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be</a:t>
                      </a:r>
                      <a:r>
                        <a:rPr sz="1100" spc="1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associated</a:t>
                      </a:r>
                      <a:r>
                        <a:rPr sz="11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with </a:t>
                      </a:r>
                      <a:r>
                        <a:rPr sz="11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many</a:t>
                      </a:r>
                      <a:r>
                        <a:rPr sz="11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admissions </a:t>
                      </a:r>
                      <a:r>
                        <a:rPr sz="11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over</a:t>
                      </a:r>
                      <a:r>
                        <a:rPr sz="1100" spc="-4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time.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5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PATIENT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5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TREATMENT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5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550" spc="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sz="1550" spc="-15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M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One</a:t>
                      </a:r>
                      <a:r>
                        <a:rPr sz="1400" spc="-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patient</a:t>
                      </a:r>
                      <a:r>
                        <a:rPr sz="1400" spc="-6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can</a:t>
                      </a:r>
                      <a:r>
                        <a:rPr sz="1400" spc="-4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have</a:t>
                      </a:r>
                      <a:r>
                        <a:rPr sz="1400" spc="-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many</a:t>
                      </a:r>
                      <a:r>
                        <a:rPr sz="14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treatments</a:t>
                      </a:r>
                      <a:r>
                        <a:rPr sz="95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.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95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DOCTOR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95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TREATMENT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5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550" spc="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sz="1550" spc="-15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M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One</a:t>
                      </a:r>
                      <a:r>
                        <a:rPr sz="1400" spc="2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doctor</a:t>
                      </a:r>
                      <a:r>
                        <a:rPr sz="1400" spc="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can</a:t>
                      </a:r>
                      <a:r>
                        <a:rPr sz="1400" spc="-2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provide</a:t>
                      </a:r>
                      <a:r>
                        <a:rPr sz="1400" spc="-5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many</a:t>
                      </a:r>
                      <a:r>
                        <a:rPr sz="1400" spc="-6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treatments.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11356975" y="6506209"/>
            <a:ext cx="9207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50" dirty="0">
                <a:solidFill>
                  <a:srgbClr val="5F6973"/>
                </a:solidFill>
                <a:latin typeface="Trebuchet MS"/>
                <a:cs typeface="Trebuchet MS"/>
              </a:rPr>
              <a:t>7</a:t>
            </a:r>
            <a:endParaRPr sz="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4635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130"/>
              </a:spcBef>
            </a:pPr>
            <a:r>
              <a:rPr spc="-180" dirty="0"/>
              <a:t>6.2</a:t>
            </a:r>
            <a:r>
              <a:rPr spc="-240" dirty="0"/>
              <a:t> </a:t>
            </a:r>
            <a:r>
              <a:rPr spc="-75" dirty="0"/>
              <a:t>Relationships</a:t>
            </a:r>
            <a:r>
              <a:rPr spc="-185" dirty="0"/>
              <a:t> </a:t>
            </a:r>
            <a:r>
              <a:rPr spc="-125" dirty="0"/>
              <a:t>and</a:t>
            </a:r>
            <a:r>
              <a:rPr spc="-195" dirty="0"/>
              <a:t> </a:t>
            </a:r>
            <a:r>
              <a:rPr spc="-80" dirty="0"/>
              <a:t>Cardinality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61962" y="1065843"/>
            <a:ext cx="11025505" cy="101600"/>
            <a:chOff x="561962" y="1065843"/>
            <a:chExt cx="11025505" cy="101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1962" y="1065843"/>
              <a:ext cx="11025275" cy="1015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90550" y="1076325"/>
              <a:ext cx="10972800" cy="38100"/>
            </a:xfrm>
            <a:custGeom>
              <a:avLst/>
              <a:gdLst/>
              <a:ahLst/>
              <a:cxnLst/>
              <a:rect l="l" t="t" r="r" b="b"/>
              <a:pathLst>
                <a:path w="10972800" h="38100">
                  <a:moveTo>
                    <a:pt x="109728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0972800" y="38100"/>
                  </a:lnTo>
                  <a:lnTo>
                    <a:pt x="10972800" y="0"/>
                  </a:lnTo>
                  <a:close/>
                </a:path>
              </a:pathLst>
            </a:custGeom>
            <a:solidFill>
              <a:srgbClr val="3C7C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0125" y="1876361"/>
            <a:ext cx="357187" cy="30956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9650" y="2438336"/>
            <a:ext cx="347662" cy="3095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95375" y="3000311"/>
            <a:ext cx="357187" cy="30956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00125" y="3581336"/>
            <a:ext cx="357187" cy="30003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81100" y="4143311"/>
            <a:ext cx="357187" cy="30003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14450" y="4705286"/>
            <a:ext cx="357187" cy="300037"/>
          </a:xfrm>
          <a:prstGeom prst="rect">
            <a:avLst/>
          </a:prstGeom>
        </p:spPr>
      </p:pic>
      <p:graphicFrame>
        <p:nvGraphicFramePr>
          <p:cNvPr id="12" name="objec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170837"/>
              </p:ext>
            </p:extLst>
          </p:nvPr>
        </p:nvGraphicFramePr>
        <p:xfrm>
          <a:off x="496569" y="1319530"/>
          <a:ext cx="11238231" cy="3949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3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06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Relationship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Cardinality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Meaning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60"/>
                        </a:spcBef>
                        <a:tabLst>
                          <a:tab pos="799465" algn="l"/>
                        </a:tabLst>
                      </a:pPr>
                      <a:r>
                        <a:rPr sz="11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PATIENT</a:t>
                      </a:r>
                      <a:r>
                        <a:rPr sz="11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PRESCRIPTION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5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550" spc="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sz="1550" spc="-15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M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One</a:t>
                      </a:r>
                      <a:r>
                        <a:rPr sz="1400" spc="-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patient</a:t>
                      </a:r>
                      <a:r>
                        <a:rPr sz="1400" spc="-6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can</a:t>
                      </a:r>
                      <a:r>
                        <a:rPr sz="1400" spc="-4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have</a:t>
                      </a:r>
                      <a:r>
                        <a:rPr sz="1400" spc="-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many</a:t>
                      </a:r>
                      <a:r>
                        <a:rPr sz="14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prescriptions.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65"/>
                        </a:spcBef>
                        <a:tabLst>
                          <a:tab pos="805815" algn="l"/>
                        </a:tabLst>
                      </a:pPr>
                      <a:r>
                        <a:rPr sz="11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DOCTOR</a:t>
                      </a:r>
                      <a:r>
                        <a:rPr sz="11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PRESCRIPTION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5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550" spc="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sz="1550" spc="-15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M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One</a:t>
                      </a:r>
                      <a:r>
                        <a:rPr sz="1400" spc="-3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doctor</a:t>
                      </a:r>
                      <a:r>
                        <a:rPr sz="1400" spc="-4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can</a:t>
                      </a:r>
                      <a:r>
                        <a:rPr sz="1400" spc="-6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issue</a:t>
                      </a:r>
                      <a:r>
                        <a:rPr sz="1400" spc="-2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many</a:t>
                      </a:r>
                      <a:r>
                        <a:rPr sz="1400" spc="-3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prescriptions.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21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70"/>
                        </a:spcBef>
                        <a:tabLst>
                          <a:tab pos="892810" algn="l"/>
                        </a:tabLst>
                      </a:pPr>
                      <a:r>
                        <a:rPr sz="11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MEDICINE</a:t>
                      </a:r>
                      <a:r>
                        <a:rPr sz="11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PRESCRIPTION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550" spc="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sz="1550" spc="-15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M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2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One </a:t>
                      </a:r>
                      <a:r>
                        <a:rPr sz="12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medicine</a:t>
                      </a:r>
                      <a:r>
                        <a:rPr sz="1200" spc="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can</a:t>
                      </a:r>
                      <a:r>
                        <a:rPr sz="1200" spc="-2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appear</a:t>
                      </a:r>
                      <a:r>
                        <a:rPr sz="1200" spc="3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200" spc="-2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many</a:t>
                      </a:r>
                      <a:r>
                        <a:rPr sz="1200" spc="-1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prescription</a:t>
                      </a:r>
                      <a:r>
                        <a:rPr sz="1200" spc="-2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records.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80"/>
                        </a:spcBef>
                        <a:tabLst>
                          <a:tab pos="799465" algn="l"/>
                        </a:tabLst>
                      </a:pPr>
                      <a:r>
                        <a:rPr sz="11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PATIENT</a:t>
                      </a:r>
                      <a:r>
                        <a:rPr sz="11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BILLING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5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550" spc="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sz="1550" spc="-15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M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One</a:t>
                      </a:r>
                      <a:r>
                        <a:rPr sz="1400" spc="-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patient</a:t>
                      </a:r>
                      <a:r>
                        <a:rPr sz="1400" spc="-6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can</a:t>
                      </a:r>
                      <a:r>
                        <a:rPr sz="1400" spc="-2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have</a:t>
                      </a:r>
                      <a:r>
                        <a:rPr sz="1400" spc="-6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many bills.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84"/>
                        </a:spcBef>
                        <a:tabLst>
                          <a:tab pos="981710" algn="l"/>
                        </a:tabLst>
                      </a:pPr>
                      <a:r>
                        <a:rPr sz="11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ADMISSION</a:t>
                      </a:r>
                      <a:r>
                        <a:rPr sz="11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BILLING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5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550" spc="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sz="1550" spc="-15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M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An</a:t>
                      </a:r>
                      <a:r>
                        <a:rPr sz="1400" spc="-2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admission</a:t>
                      </a:r>
                      <a:r>
                        <a:rPr sz="1400" spc="-2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can</a:t>
                      </a:r>
                      <a:r>
                        <a:rPr sz="1400" spc="-2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be</a:t>
                      </a:r>
                      <a:r>
                        <a:rPr sz="1400" spc="2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associated</a:t>
                      </a:r>
                      <a:r>
                        <a:rPr sz="1400" spc="-2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sz="1400" spc="-2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billing.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90"/>
                        </a:spcBef>
                        <a:tabLst>
                          <a:tab pos="1082040" algn="l"/>
                        </a:tabLst>
                      </a:pPr>
                      <a:r>
                        <a:rPr sz="11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DEPARTMENT</a:t>
                      </a:r>
                      <a:r>
                        <a:rPr sz="11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100" spc="-2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ROOM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550" spc="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sz="1550" spc="-15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50" dirty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M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One</a:t>
                      </a:r>
                      <a:r>
                        <a:rPr sz="14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department</a:t>
                      </a: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can</a:t>
                      </a:r>
                      <a:r>
                        <a:rPr sz="1400" spc="-4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contain</a:t>
                      </a:r>
                      <a:r>
                        <a:rPr sz="1400" spc="-4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many</a:t>
                      </a:r>
                      <a:r>
                        <a:rPr sz="1400" spc="-1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rooms.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11356975" y="6506209"/>
            <a:ext cx="9207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50" dirty="0">
                <a:solidFill>
                  <a:srgbClr val="5F6973"/>
                </a:solidFill>
                <a:latin typeface="Trebuchet MS"/>
                <a:cs typeface="Trebuchet MS"/>
              </a:rPr>
              <a:t>7</a:t>
            </a:r>
            <a:endParaRPr sz="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4635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130"/>
              </a:spcBef>
            </a:pPr>
            <a:r>
              <a:rPr spc="-110" dirty="0"/>
              <a:t>7.1Relational</a:t>
            </a:r>
            <a:r>
              <a:rPr spc="-250" dirty="0"/>
              <a:t> </a:t>
            </a:r>
            <a:r>
              <a:rPr spc="-45" dirty="0"/>
              <a:t>Database</a:t>
            </a:r>
            <a:r>
              <a:rPr spc="-220" dirty="0"/>
              <a:t> </a:t>
            </a:r>
            <a:r>
              <a:rPr spc="-10" dirty="0"/>
              <a:t>Schema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61962" y="1065843"/>
            <a:ext cx="11025505" cy="101600"/>
            <a:chOff x="561962" y="1065843"/>
            <a:chExt cx="11025505" cy="101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1962" y="1065843"/>
              <a:ext cx="11025275" cy="1015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90550" y="1076325"/>
              <a:ext cx="10972800" cy="38100"/>
            </a:xfrm>
            <a:custGeom>
              <a:avLst/>
              <a:gdLst/>
              <a:ahLst/>
              <a:cxnLst/>
              <a:rect l="l" t="t" r="r" b="b"/>
              <a:pathLst>
                <a:path w="10972800" h="38100">
                  <a:moveTo>
                    <a:pt x="109728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0972800" y="38100"/>
                  </a:lnTo>
                  <a:lnTo>
                    <a:pt x="10972800" y="0"/>
                  </a:lnTo>
                  <a:close/>
                </a:path>
              </a:pathLst>
            </a:custGeom>
            <a:solidFill>
              <a:srgbClr val="3C7C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469140"/>
              </p:ext>
            </p:extLst>
          </p:nvPr>
        </p:nvGraphicFramePr>
        <p:xfrm>
          <a:off x="536257" y="1524000"/>
          <a:ext cx="11025276" cy="48629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9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3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26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6331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DOCTOR</a:t>
                      </a:r>
                      <a:endParaRPr sz="1800" b="1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Doctor(Doctor_ID,</a:t>
                      </a:r>
                      <a:r>
                        <a:rPr sz="1800" spc="8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Name,</a:t>
                      </a:r>
                      <a:r>
                        <a:rPr sz="1800" spc="8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Specialization,</a:t>
                      </a:r>
                      <a:r>
                        <a:rPr sz="1800" spc="8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Phone,</a:t>
                      </a:r>
                      <a:r>
                        <a:rPr sz="1800" spc="15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Department_ID)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PK:</a:t>
                      </a:r>
                      <a:r>
                        <a:rPr sz="1800" spc="6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Doctor_ID</a:t>
                      </a:r>
                      <a:r>
                        <a:rPr sz="1800" spc="10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|</a:t>
                      </a:r>
                      <a:r>
                        <a:rPr sz="1800" spc="8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FK:</a:t>
                      </a:r>
                      <a:r>
                        <a:rPr sz="1800" spc="114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Department_ID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734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b="1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PATIENT</a:t>
                      </a:r>
                      <a:endParaRPr sz="1800" b="1" dirty="0">
                        <a:latin typeface="Calibri"/>
                        <a:cs typeface="Calibri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Patient(Patient_ID,</a:t>
                      </a:r>
                      <a:r>
                        <a:rPr sz="1800" spc="5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Name,</a:t>
                      </a:r>
                      <a:r>
                        <a:rPr sz="1800" spc="6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Age,</a:t>
                      </a:r>
                      <a:r>
                        <a:rPr sz="1800" spc="6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Gender,</a:t>
                      </a:r>
                      <a:r>
                        <a:rPr sz="1800" spc="15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Mobile,</a:t>
                      </a:r>
                      <a:r>
                        <a:rPr sz="1800" spc="6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Address)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PK:</a:t>
                      </a:r>
                      <a:r>
                        <a:rPr sz="1800" spc="6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Patient_ID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57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b="1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DEPARTMENT</a:t>
                      </a:r>
                      <a:endParaRPr sz="1800" b="1" dirty="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2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Department(Department_ID,</a:t>
                      </a:r>
                      <a:r>
                        <a:rPr sz="1800" spc="3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2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Department_Name,</a:t>
                      </a: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Location)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PK:</a:t>
                      </a:r>
                      <a:r>
                        <a:rPr sz="1800" spc="6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Department_ID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57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b="1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ADMISSION</a:t>
                      </a:r>
                      <a:endParaRPr sz="1800" b="1" dirty="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Admission(Admission_ID,</a:t>
                      </a:r>
                      <a:r>
                        <a:rPr sz="1800" spc="10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Patient_ID,</a:t>
                      </a:r>
                      <a:r>
                        <a:rPr sz="1800" spc="1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Room_ID,</a:t>
                      </a:r>
                      <a:r>
                        <a:rPr sz="1800" spc="10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Admission_Date,</a:t>
                      </a:r>
                      <a:r>
                        <a:rPr sz="1800" spc="7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Status)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PK:</a:t>
                      </a:r>
                      <a:r>
                        <a:rPr sz="1800" spc="9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Admission_ID</a:t>
                      </a:r>
                      <a:r>
                        <a:rPr sz="1800" spc="1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|</a:t>
                      </a:r>
                      <a:r>
                        <a:rPr sz="1800" spc="10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FK:</a:t>
                      </a:r>
                      <a:r>
                        <a:rPr sz="1800" spc="15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Patient_ID,</a:t>
                      </a:r>
                      <a:r>
                        <a:rPr sz="1800" spc="12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Room_ID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57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b="1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APPOINTMENT</a:t>
                      </a:r>
                      <a:endParaRPr sz="1800" b="1" dirty="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Appointment(Appointment_ID,</a:t>
                      </a:r>
                      <a:r>
                        <a:rPr sz="1800" spc="10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Patient_ID,</a:t>
                      </a:r>
                      <a:r>
                        <a:rPr sz="1800" spc="1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Doctor_ID,</a:t>
                      </a:r>
                      <a:r>
                        <a:rPr sz="1800" spc="10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Date,</a:t>
                      </a:r>
                      <a:r>
                        <a:rPr sz="1800" spc="7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Time)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PK:</a:t>
                      </a:r>
                      <a:r>
                        <a:rPr sz="1800" spc="9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Appointment_ID</a:t>
                      </a:r>
                      <a:r>
                        <a:rPr sz="1800" spc="1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|</a:t>
                      </a:r>
                      <a:r>
                        <a:rPr sz="1800" spc="10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FK:</a:t>
                      </a:r>
                      <a:r>
                        <a:rPr sz="1800" spc="15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Patient_ID,</a:t>
                      </a:r>
                      <a:r>
                        <a:rPr sz="1800" spc="12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Doctor_ID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4734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b="1" spc="-2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ROOM</a:t>
                      </a:r>
                      <a:endParaRPr sz="1800" b="1" dirty="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Room(Room_ID,</a:t>
                      </a:r>
                      <a:r>
                        <a:rPr sz="1800" spc="14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Room_Number,</a:t>
                      </a:r>
                      <a:r>
                        <a:rPr sz="1800" spc="15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Room_Type,</a:t>
                      </a:r>
                      <a:r>
                        <a:rPr sz="1800" spc="1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status)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PK:</a:t>
                      </a:r>
                      <a:r>
                        <a:rPr sz="1800" spc="6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Room_ID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4635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130"/>
              </a:spcBef>
            </a:pPr>
            <a:r>
              <a:rPr spc="-180" dirty="0"/>
              <a:t>7.2</a:t>
            </a:r>
            <a:r>
              <a:rPr spc="-265" dirty="0"/>
              <a:t> </a:t>
            </a:r>
            <a:r>
              <a:rPr spc="-90" dirty="0"/>
              <a:t>Relational</a:t>
            </a:r>
            <a:r>
              <a:rPr spc="-280" dirty="0"/>
              <a:t> </a:t>
            </a:r>
            <a:r>
              <a:rPr spc="-40" dirty="0"/>
              <a:t>Database</a:t>
            </a:r>
            <a:r>
              <a:rPr spc="-254" dirty="0"/>
              <a:t> </a:t>
            </a:r>
            <a:r>
              <a:rPr spc="-10" dirty="0"/>
              <a:t>Schema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61962" y="1065843"/>
            <a:ext cx="11025505" cy="101600"/>
            <a:chOff x="561962" y="1065843"/>
            <a:chExt cx="11025505" cy="101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1962" y="1065843"/>
              <a:ext cx="11025275" cy="1015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90550" y="1076325"/>
              <a:ext cx="10972800" cy="38100"/>
            </a:xfrm>
            <a:custGeom>
              <a:avLst/>
              <a:gdLst/>
              <a:ahLst/>
              <a:cxnLst/>
              <a:rect l="l" t="t" r="r" b="b"/>
              <a:pathLst>
                <a:path w="10972800" h="38100">
                  <a:moveTo>
                    <a:pt x="109728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0972800" y="38100"/>
                  </a:lnTo>
                  <a:lnTo>
                    <a:pt x="10972800" y="0"/>
                  </a:lnTo>
                  <a:close/>
                </a:path>
              </a:pathLst>
            </a:custGeom>
            <a:solidFill>
              <a:srgbClr val="3C7C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7580745"/>
              </p:ext>
            </p:extLst>
          </p:nvPr>
        </p:nvGraphicFramePr>
        <p:xfrm>
          <a:off x="536257" y="1524000"/>
          <a:ext cx="10957193" cy="48930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579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8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0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226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TREATMENT</a:t>
                      </a:r>
                      <a:endParaRPr sz="1800" b="1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Treatment(Treatment_ID,</a:t>
                      </a:r>
                      <a:r>
                        <a:rPr sz="1800" spc="16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Patient_ID,</a:t>
                      </a:r>
                      <a:r>
                        <a:rPr sz="1800" spc="16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Doctor_ID,</a:t>
                      </a:r>
                      <a:r>
                        <a:rPr sz="1800" spc="16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Treatment_Name,</a:t>
                      </a:r>
                      <a:r>
                        <a:rPr sz="1800" spc="12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Cost)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PK:</a:t>
                      </a:r>
                      <a:r>
                        <a:rPr sz="1800" spc="5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Treatment_ID</a:t>
                      </a:r>
                      <a:r>
                        <a:rPr sz="1800" spc="4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|</a:t>
                      </a:r>
                      <a:r>
                        <a:rPr sz="1800" spc="7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FK:</a:t>
                      </a:r>
                      <a:r>
                        <a:rPr sz="1800" spc="9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Patient_ID,</a:t>
                      </a:r>
                      <a:r>
                        <a:rPr sz="1800" spc="7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Doctor_ID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0796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MEDICINE</a:t>
                      </a:r>
                      <a:endParaRPr sz="1800" b="1" dirty="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Medicine(Medicine_ID,</a:t>
                      </a:r>
                      <a:r>
                        <a:rPr sz="1800" spc="16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Medicine_Name,</a:t>
                      </a:r>
                      <a:r>
                        <a:rPr sz="1800" spc="12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Category,</a:t>
                      </a:r>
                      <a:r>
                        <a:rPr sz="1800" spc="12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Price)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PK:</a:t>
                      </a:r>
                      <a:r>
                        <a:rPr sz="1800" spc="7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Medicine_ID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0796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b="1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PRESCRIPTION</a:t>
                      </a:r>
                      <a:endParaRPr sz="1800" b="1" dirty="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Prescription(Prescription_ID,</a:t>
                      </a:r>
                      <a:r>
                        <a:rPr sz="1800" spc="114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Patient_ID,</a:t>
                      </a:r>
                      <a:r>
                        <a:rPr sz="1800" spc="12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Doctor_ID,</a:t>
                      </a:r>
                      <a:r>
                        <a:rPr sz="1800" spc="8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Date,</a:t>
                      </a:r>
                      <a:r>
                        <a:rPr sz="1800" spc="8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Dosage)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PK:</a:t>
                      </a:r>
                      <a:r>
                        <a:rPr sz="1800" spc="9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Prescription_ID</a:t>
                      </a:r>
                      <a:r>
                        <a:rPr sz="1800" spc="16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|</a:t>
                      </a:r>
                      <a:r>
                        <a:rPr sz="1800" spc="1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FK:</a:t>
                      </a:r>
                      <a:r>
                        <a:rPr sz="1800" spc="15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Patient_ID,</a:t>
                      </a:r>
                      <a:r>
                        <a:rPr sz="1800" spc="12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Doctor_ID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9178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b="1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BILLING</a:t>
                      </a:r>
                      <a:endParaRPr sz="1800" b="1" dirty="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Billing(Bill_ID,</a:t>
                      </a:r>
                      <a:r>
                        <a:rPr sz="1800" spc="9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Patient_ID,</a:t>
                      </a:r>
                      <a:r>
                        <a:rPr sz="1800" spc="6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Amount,</a:t>
                      </a:r>
                      <a:r>
                        <a:rPr sz="1800" spc="114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Bill_Date,</a:t>
                      </a:r>
                      <a:r>
                        <a:rPr sz="1800" spc="9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Payment_Status)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PK:</a:t>
                      </a:r>
                      <a:r>
                        <a:rPr sz="1800" spc="4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Bill_ID</a:t>
                      </a:r>
                      <a:r>
                        <a:rPr sz="1800" spc="105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|</a:t>
                      </a:r>
                      <a:r>
                        <a:rPr sz="1800" spc="6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FK:</a:t>
                      </a:r>
                      <a:r>
                        <a:rPr sz="1800" spc="9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2C3740"/>
                          </a:solidFill>
                          <a:latin typeface="Calibri"/>
                          <a:cs typeface="Calibri"/>
                        </a:rPr>
                        <a:t>Patient_ID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77165">
              <a:lnSpc>
                <a:spcPct val="100000"/>
              </a:lnSpc>
              <a:spcBef>
                <a:spcPts val="130"/>
              </a:spcBef>
            </a:pPr>
            <a:r>
              <a:rPr spc="-220" dirty="0"/>
              <a:t>8.</a:t>
            </a:r>
            <a:r>
              <a:rPr spc="-275" dirty="0"/>
              <a:t> </a:t>
            </a:r>
            <a:r>
              <a:rPr dirty="0"/>
              <a:t>ER</a:t>
            </a:r>
            <a:r>
              <a:rPr spc="-265" dirty="0"/>
              <a:t> </a:t>
            </a:r>
            <a:r>
              <a:rPr spc="-55" dirty="0"/>
              <a:t>Diagram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125" y="676273"/>
            <a:ext cx="10734675" cy="609599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73734" y="324738"/>
            <a:ext cx="545084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35" dirty="0"/>
              <a:t>9.</a:t>
            </a:r>
            <a:r>
              <a:rPr spc="-235" dirty="0"/>
              <a:t> </a:t>
            </a:r>
            <a:r>
              <a:rPr spc="-200" dirty="0"/>
              <a:t>Team</a:t>
            </a:r>
            <a:r>
              <a:rPr spc="-190" dirty="0"/>
              <a:t> </a:t>
            </a:r>
            <a:r>
              <a:rPr spc="-75" dirty="0"/>
              <a:t>Responsibilities</a:t>
            </a:r>
            <a:r>
              <a:rPr spc="-245" dirty="0"/>
              <a:t> </a:t>
            </a:r>
            <a:r>
              <a:rPr spc="-105" dirty="0"/>
              <a:t>and</a:t>
            </a:r>
            <a:r>
              <a:rPr spc="-265" dirty="0"/>
              <a:t> </a:t>
            </a:r>
            <a:r>
              <a:rPr spc="-20" dirty="0"/>
              <a:t>GitHub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61962" y="1065843"/>
            <a:ext cx="11025505" cy="101600"/>
            <a:chOff x="561962" y="1065843"/>
            <a:chExt cx="11025505" cy="101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1962" y="1065843"/>
              <a:ext cx="11025275" cy="1015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90550" y="1076325"/>
              <a:ext cx="10972800" cy="38100"/>
            </a:xfrm>
            <a:custGeom>
              <a:avLst/>
              <a:gdLst/>
              <a:ahLst/>
              <a:cxnLst/>
              <a:rect l="l" t="t" r="r" b="b"/>
              <a:pathLst>
                <a:path w="10972800" h="38100">
                  <a:moveTo>
                    <a:pt x="109728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0972800" y="38100"/>
                  </a:lnTo>
                  <a:lnTo>
                    <a:pt x="10972800" y="0"/>
                  </a:lnTo>
                  <a:close/>
                </a:path>
              </a:pathLst>
            </a:custGeom>
            <a:solidFill>
              <a:srgbClr val="3C7C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050490"/>
              </p:ext>
            </p:extLst>
          </p:nvPr>
        </p:nvGraphicFramePr>
        <p:xfrm>
          <a:off x="588009" y="1730629"/>
          <a:ext cx="10698480" cy="3041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4990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550" b="1" spc="-5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Team</a:t>
                      </a:r>
                      <a:r>
                        <a:rPr sz="1550" b="1" spc="-114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Member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55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Assigned</a:t>
                      </a:r>
                      <a:r>
                        <a:rPr sz="1550" b="1" spc="204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responsibility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550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CH Venkata Koushik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877569">
                        <a:lnSpc>
                          <a:spcPct val="100899"/>
                        </a:lnSpc>
                        <a:spcBef>
                          <a:spcPts val="250"/>
                        </a:spcBef>
                      </a:pPr>
                      <a:r>
                        <a:rPr sz="1550" spc="-40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Project</a:t>
                      </a:r>
                      <a:r>
                        <a:rPr sz="1550" spc="-35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spc="-100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title,</a:t>
                      </a:r>
                      <a:r>
                        <a:rPr sz="1550" spc="-45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spc="-30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introduction,</a:t>
                      </a:r>
                      <a:r>
                        <a:rPr sz="1550" spc="-40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550" spc="-114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problem</a:t>
                      </a:r>
                      <a:r>
                        <a:rPr sz="1550" spc="-120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spc="-10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statement, Objectives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50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A Mani Krishnan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310515">
                        <a:lnSpc>
                          <a:spcPct val="101000"/>
                        </a:lnSpc>
                        <a:spcBef>
                          <a:spcPts val="250"/>
                        </a:spcBef>
                      </a:pPr>
                      <a:r>
                        <a:rPr sz="1550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Scope,</a:t>
                      </a:r>
                      <a:r>
                        <a:rPr sz="1550" spc="-110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550" spc="5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spc="-70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entity</a:t>
                      </a:r>
                      <a:r>
                        <a:rPr sz="1550" spc="-55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spc="-35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identification,</a:t>
                      </a:r>
                      <a:r>
                        <a:rPr sz="1550" spc="-15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spc="-45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Attributes,</a:t>
                      </a:r>
                      <a:r>
                        <a:rPr sz="1550" spc="-105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spc="-10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Primary</a:t>
                      </a:r>
                      <a:r>
                        <a:rPr sz="1550" spc="-65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spc="-10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Keys, </a:t>
                      </a:r>
                      <a:r>
                        <a:rPr sz="1550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550" spc="-20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spc="-30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Foreign</a:t>
                      </a:r>
                      <a:r>
                        <a:rPr sz="1550" spc="-85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spc="-20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Keys,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545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550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MBV Jaswanth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353695">
                        <a:lnSpc>
                          <a:spcPct val="100899"/>
                        </a:lnSpc>
                        <a:spcBef>
                          <a:spcPts val="260"/>
                        </a:spcBef>
                      </a:pPr>
                      <a:r>
                        <a:rPr sz="1550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Relationships</a:t>
                      </a:r>
                      <a:r>
                        <a:rPr sz="1550" spc="-85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550" spc="-40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spc="-45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cardinality,</a:t>
                      </a:r>
                      <a:r>
                        <a:rPr sz="1550" spc="65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spc="-10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Relational</a:t>
                      </a:r>
                      <a:r>
                        <a:rPr sz="1550" spc="-5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schema</a:t>
                      </a:r>
                      <a:r>
                        <a:rPr sz="1550" spc="30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550" spc="-40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spc="35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ER </a:t>
                      </a:r>
                      <a:r>
                        <a:rPr sz="1550" spc="-10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diagram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550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B Sri</a:t>
                      </a:r>
                      <a:r>
                        <a:rPr lang="en-IN" sz="1550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 R</a:t>
                      </a:r>
                      <a:r>
                        <a:rPr sz="1550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am Kishan</a:t>
                      </a:r>
                      <a:endParaRPr sz="1550" dirty="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550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GitHub</a:t>
                      </a:r>
                      <a:r>
                        <a:rPr sz="1550" spc="-15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spc="-25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repository</a:t>
                      </a:r>
                      <a:r>
                        <a:rPr sz="1550" spc="-75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550" spc="-10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spc="-35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PPT</a:t>
                      </a:r>
                      <a:r>
                        <a:rPr sz="1550" spc="-125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50" spc="-10" dirty="0">
                          <a:solidFill>
                            <a:srgbClr val="222222"/>
                          </a:solidFill>
                          <a:latin typeface="Trebuchet MS"/>
                          <a:cs typeface="Trebuchet MS"/>
                        </a:rPr>
                        <a:t>documentation</a:t>
                      </a:r>
                      <a:endParaRPr sz="1550" dirty="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902334" y="5563234"/>
            <a:ext cx="7784465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172C49"/>
                </a:solidFill>
                <a:latin typeface="Trebuchet MS"/>
                <a:cs typeface="Trebuchet MS"/>
              </a:rPr>
              <a:t>GitHub</a:t>
            </a:r>
            <a:r>
              <a:rPr sz="1550" b="1" spc="-135" dirty="0">
                <a:solidFill>
                  <a:srgbClr val="172C49"/>
                </a:solidFill>
                <a:latin typeface="Trebuchet MS"/>
                <a:cs typeface="Trebuchet MS"/>
              </a:rPr>
              <a:t> </a:t>
            </a:r>
            <a:r>
              <a:rPr sz="1550" b="1" spc="-10" dirty="0">
                <a:solidFill>
                  <a:srgbClr val="172C49"/>
                </a:solidFill>
                <a:latin typeface="Trebuchet MS"/>
                <a:cs typeface="Trebuchet MS"/>
              </a:rPr>
              <a:t>Repository:</a:t>
            </a:r>
            <a:r>
              <a:rPr lang="en-IN" sz="1550" b="1" spc="-10" dirty="0">
                <a:solidFill>
                  <a:srgbClr val="172C49"/>
                </a:solidFill>
                <a:latin typeface="Trebuchet MS"/>
                <a:cs typeface="Trebuchet MS"/>
              </a:rPr>
              <a:t> https://github.com/MANIKRISHNA333/AIML_TT1_BATCH03</a:t>
            </a:r>
            <a:endParaRPr sz="155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88394" y="6506209"/>
            <a:ext cx="15938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25" dirty="0">
                <a:solidFill>
                  <a:srgbClr val="5F6973"/>
                </a:solidFill>
                <a:latin typeface="Trebuchet MS"/>
                <a:cs typeface="Trebuchet MS"/>
              </a:rPr>
              <a:t>10</a:t>
            </a:r>
            <a:endParaRPr sz="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4635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130"/>
              </a:spcBef>
            </a:pPr>
            <a:r>
              <a:rPr spc="-195" dirty="0"/>
              <a:t>10.</a:t>
            </a:r>
            <a:r>
              <a:rPr spc="-265" dirty="0"/>
              <a:t> </a:t>
            </a:r>
            <a:r>
              <a:rPr spc="-30" dirty="0"/>
              <a:t>Conclusion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61962" y="1065843"/>
            <a:ext cx="11025505" cy="101600"/>
            <a:chOff x="561962" y="1065843"/>
            <a:chExt cx="11025505" cy="101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1962" y="1065843"/>
              <a:ext cx="11025275" cy="1015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90550" y="1076325"/>
              <a:ext cx="10972800" cy="38100"/>
            </a:xfrm>
            <a:custGeom>
              <a:avLst/>
              <a:gdLst/>
              <a:ahLst/>
              <a:cxnLst/>
              <a:rect l="l" t="t" r="r" b="b"/>
              <a:pathLst>
                <a:path w="10972800" h="38100">
                  <a:moveTo>
                    <a:pt x="109728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0972800" y="38100"/>
                  </a:lnTo>
                  <a:lnTo>
                    <a:pt x="10972800" y="0"/>
                  </a:lnTo>
                  <a:close/>
                </a:path>
              </a:pathLst>
            </a:custGeom>
            <a:solidFill>
              <a:srgbClr val="3C7C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02335" y="1378648"/>
            <a:ext cx="9824085" cy="3716654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230504" indent="-217804">
              <a:lnSpc>
                <a:spcPct val="100000"/>
              </a:lnSpc>
              <a:spcBef>
                <a:spcPts val="1125"/>
              </a:spcBef>
              <a:buChar char="•"/>
              <a:tabLst>
                <a:tab pos="230504" algn="l"/>
              </a:tabLst>
            </a:pPr>
            <a:r>
              <a:rPr sz="2400" spc="-60" dirty="0">
                <a:solidFill>
                  <a:srgbClr val="2C3740"/>
                </a:solidFill>
                <a:latin typeface="Calibri"/>
                <a:cs typeface="Calibri"/>
              </a:rPr>
              <a:t>Ten</a:t>
            </a:r>
            <a:r>
              <a:rPr sz="2400" spc="-75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major</a:t>
            </a:r>
            <a:r>
              <a:rPr sz="2400" spc="-40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entities</a:t>
            </a:r>
            <a:r>
              <a:rPr sz="2400" spc="-60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have</a:t>
            </a:r>
            <a:r>
              <a:rPr sz="2400" spc="-85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been</a:t>
            </a:r>
            <a:r>
              <a:rPr sz="2400" spc="-80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identified</a:t>
            </a:r>
            <a:r>
              <a:rPr sz="2400" spc="-75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for</a:t>
            </a:r>
            <a:r>
              <a:rPr sz="2400" spc="-100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the</a:t>
            </a:r>
            <a:r>
              <a:rPr sz="2400" spc="-25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Hospital</a:t>
            </a:r>
            <a:r>
              <a:rPr sz="2400" spc="-110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Management</a:t>
            </a:r>
            <a:r>
              <a:rPr sz="2400" spc="-75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C3740"/>
                </a:solidFill>
                <a:latin typeface="Calibri"/>
                <a:cs typeface="Calibri"/>
              </a:rPr>
              <a:t>System.</a:t>
            </a:r>
            <a:endParaRPr sz="2400">
              <a:latin typeface="Calibri"/>
              <a:cs typeface="Calibri"/>
            </a:endParaRPr>
          </a:p>
          <a:p>
            <a:pPr marL="230504" indent="-217804">
              <a:lnSpc>
                <a:spcPts val="2865"/>
              </a:lnSpc>
              <a:spcBef>
                <a:spcPts val="1025"/>
              </a:spcBef>
              <a:buChar char="•"/>
              <a:tabLst>
                <a:tab pos="230504" algn="l"/>
              </a:tabLst>
            </a:pPr>
            <a:r>
              <a:rPr sz="2400" spc="-10" dirty="0">
                <a:solidFill>
                  <a:srgbClr val="2C3740"/>
                </a:solidFill>
                <a:latin typeface="Calibri"/>
                <a:cs typeface="Calibri"/>
              </a:rPr>
              <a:t>Attributes,</a:t>
            </a:r>
            <a:r>
              <a:rPr sz="2400" spc="-70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Primary</a:t>
            </a:r>
            <a:r>
              <a:rPr sz="2400" spc="-40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2C3740"/>
                </a:solidFill>
                <a:latin typeface="Calibri"/>
                <a:cs typeface="Calibri"/>
              </a:rPr>
              <a:t>Keys</a:t>
            </a:r>
            <a:r>
              <a:rPr sz="2400" spc="-100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and</a:t>
            </a:r>
            <a:r>
              <a:rPr sz="2400" spc="-55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Foreign</a:t>
            </a:r>
            <a:r>
              <a:rPr sz="2400" spc="-55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Keys</a:t>
            </a:r>
            <a:r>
              <a:rPr sz="2400" spc="-35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are</a:t>
            </a:r>
            <a:r>
              <a:rPr sz="2400" spc="-60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2C3740"/>
                </a:solidFill>
                <a:latin typeface="Calibri"/>
                <a:cs typeface="Calibri"/>
              </a:rPr>
              <a:t>represented</a:t>
            </a:r>
            <a:r>
              <a:rPr sz="2400" spc="-50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in</a:t>
            </a:r>
            <a:r>
              <a:rPr sz="2400" spc="-55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the</a:t>
            </a:r>
            <a:r>
              <a:rPr sz="2400" spc="-60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C3740"/>
                </a:solidFill>
                <a:latin typeface="Calibri"/>
                <a:cs typeface="Calibri"/>
              </a:rPr>
              <a:t>project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65"/>
              </a:lnSpc>
            </a:pPr>
            <a:r>
              <a:rPr sz="2400" spc="-10" dirty="0">
                <a:solidFill>
                  <a:srgbClr val="2C3740"/>
                </a:solidFill>
                <a:latin typeface="Calibri"/>
                <a:cs typeface="Calibri"/>
              </a:rPr>
              <a:t>design.</a:t>
            </a:r>
            <a:endParaRPr sz="2400">
              <a:latin typeface="Calibri"/>
              <a:cs typeface="Calibri"/>
            </a:endParaRPr>
          </a:p>
          <a:p>
            <a:pPr marL="12700" marR="191135" indent="217804">
              <a:lnSpc>
                <a:spcPts val="2850"/>
              </a:lnSpc>
              <a:spcBef>
                <a:spcPts val="1145"/>
              </a:spcBef>
              <a:buChar char="•"/>
              <a:tabLst>
                <a:tab pos="230504" algn="l"/>
              </a:tabLst>
            </a:pPr>
            <a:r>
              <a:rPr sz="2400" spc="-10" dirty="0">
                <a:solidFill>
                  <a:srgbClr val="2C3740"/>
                </a:solidFill>
                <a:latin typeface="Calibri"/>
                <a:cs typeface="Calibri"/>
              </a:rPr>
              <a:t>Relationships</a:t>
            </a:r>
            <a:r>
              <a:rPr sz="2400" spc="-35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and</a:t>
            </a:r>
            <a:r>
              <a:rPr sz="2400" spc="-45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C3740"/>
                </a:solidFill>
                <a:latin typeface="Calibri"/>
                <a:cs typeface="Calibri"/>
              </a:rPr>
              <a:t>cardinalities</a:t>
            </a:r>
            <a:r>
              <a:rPr sz="2400" spc="-30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have</a:t>
            </a:r>
            <a:r>
              <a:rPr sz="2400" spc="-55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been</a:t>
            </a:r>
            <a:r>
              <a:rPr sz="2400" spc="-50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C3740"/>
                </a:solidFill>
                <a:latin typeface="Calibri"/>
                <a:cs typeface="Calibri"/>
              </a:rPr>
              <a:t>documented</a:t>
            </a:r>
            <a:r>
              <a:rPr sz="2400" spc="-45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from</a:t>
            </a:r>
            <a:r>
              <a:rPr sz="2400" spc="-100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the</a:t>
            </a:r>
            <a:r>
              <a:rPr sz="2400" spc="-60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supplied</a:t>
            </a:r>
            <a:r>
              <a:rPr sz="2400" spc="-45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2C3740"/>
                </a:solidFill>
                <a:latin typeface="Calibri"/>
                <a:cs typeface="Calibri"/>
              </a:rPr>
              <a:t>ER </a:t>
            </a:r>
            <a:r>
              <a:rPr sz="2400" spc="-10" dirty="0">
                <a:solidFill>
                  <a:srgbClr val="2C3740"/>
                </a:solidFill>
                <a:latin typeface="Calibri"/>
                <a:cs typeface="Calibri"/>
              </a:rPr>
              <a:t>diagram.</a:t>
            </a:r>
            <a:endParaRPr sz="2400">
              <a:latin typeface="Calibri"/>
              <a:cs typeface="Calibri"/>
            </a:endParaRPr>
          </a:p>
          <a:p>
            <a:pPr marL="231140" indent="-218440">
              <a:lnSpc>
                <a:spcPct val="100000"/>
              </a:lnSpc>
              <a:spcBef>
                <a:spcPts val="940"/>
              </a:spcBef>
              <a:buChar char="•"/>
              <a:tabLst>
                <a:tab pos="231140" algn="l"/>
              </a:tabLst>
            </a:pP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The</a:t>
            </a:r>
            <a:r>
              <a:rPr sz="2400" spc="-75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C3740"/>
                </a:solidFill>
                <a:latin typeface="Calibri"/>
                <a:cs typeface="Calibri"/>
              </a:rPr>
              <a:t>relational</a:t>
            </a:r>
            <a:r>
              <a:rPr sz="2400" spc="-105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schema</a:t>
            </a:r>
            <a:r>
              <a:rPr sz="2400" spc="-70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C3740"/>
                </a:solidFill>
                <a:latin typeface="Calibri"/>
                <a:cs typeface="Calibri"/>
              </a:rPr>
              <a:t>organises</a:t>
            </a:r>
            <a:r>
              <a:rPr sz="2400" spc="-55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the</a:t>
            </a:r>
            <a:r>
              <a:rPr sz="2400" spc="-70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identified</a:t>
            </a:r>
            <a:r>
              <a:rPr sz="2400" spc="-70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hospital</a:t>
            </a:r>
            <a:r>
              <a:rPr sz="2400" spc="-35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records</a:t>
            </a:r>
            <a:r>
              <a:rPr sz="2400" spc="-50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into</a:t>
            </a:r>
            <a:r>
              <a:rPr sz="2400" spc="-75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C3740"/>
                </a:solidFill>
                <a:latin typeface="Calibri"/>
                <a:cs typeface="Calibri"/>
              </a:rPr>
              <a:t>tables.</a:t>
            </a:r>
            <a:endParaRPr sz="2400">
              <a:latin typeface="Calibri"/>
              <a:cs typeface="Calibri"/>
            </a:endParaRPr>
          </a:p>
          <a:p>
            <a:pPr marL="231140" indent="-218440">
              <a:lnSpc>
                <a:spcPct val="100000"/>
              </a:lnSpc>
              <a:spcBef>
                <a:spcPts val="1025"/>
              </a:spcBef>
              <a:buChar char="•"/>
              <a:tabLst>
                <a:tab pos="231140" algn="l"/>
              </a:tabLst>
            </a:pP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The</a:t>
            </a:r>
            <a:r>
              <a:rPr sz="2400" spc="-60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ER</a:t>
            </a:r>
            <a:r>
              <a:rPr sz="2400" spc="-90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diagram</a:t>
            </a:r>
            <a:r>
              <a:rPr sz="2400" spc="-30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provides</a:t>
            </a:r>
            <a:r>
              <a:rPr sz="2400" spc="-30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the</a:t>
            </a:r>
            <a:r>
              <a:rPr sz="2400" spc="-60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overall</a:t>
            </a:r>
            <a:r>
              <a:rPr sz="2400" spc="-20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C3740"/>
                </a:solidFill>
                <a:latin typeface="Calibri"/>
                <a:cs typeface="Calibri"/>
              </a:rPr>
              <a:t>conceptual</a:t>
            </a:r>
            <a:r>
              <a:rPr sz="2400" spc="-85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view</a:t>
            </a:r>
            <a:r>
              <a:rPr sz="2400" spc="-55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of</a:t>
            </a:r>
            <a:r>
              <a:rPr sz="2400" spc="-45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the</a:t>
            </a:r>
            <a:r>
              <a:rPr sz="2400" spc="-60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C3740"/>
                </a:solidFill>
                <a:latin typeface="Calibri"/>
                <a:cs typeface="Calibri"/>
              </a:rPr>
              <a:t>database.</a:t>
            </a:r>
            <a:endParaRPr sz="2400">
              <a:latin typeface="Calibri"/>
              <a:cs typeface="Calibri"/>
            </a:endParaRPr>
          </a:p>
          <a:p>
            <a:pPr marL="230504" indent="-217804">
              <a:lnSpc>
                <a:spcPct val="100000"/>
              </a:lnSpc>
              <a:spcBef>
                <a:spcPts val="950"/>
              </a:spcBef>
              <a:buChar char="•"/>
              <a:tabLst>
                <a:tab pos="230504" algn="l"/>
              </a:tabLst>
            </a:pP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This</a:t>
            </a:r>
            <a:r>
              <a:rPr sz="2400" spc="-50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design</a:t>
            </a:r>
            <a:r>
              <a:rPr sz="2400" spc="-65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forms</a:t>
            </a:r>
            <a:r>
              <a:rPr sz="2400" spc="-50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the</a:t>
            </a:r>
            <a:r>
              <a:rPr sz="2400" spc="-70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foundation</a:t>
            </a:r>
            <a:r>
              <a:rPr sz="2400" spc="-65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for</a:t>
            </a:r>
            <a:r>
              <a:rPr sz="2400" spc="-85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the</a:t>
            </a:r>
            <a:r>
              <a:rPr sz="2400" spc="-75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next</a:t>
            </a:r>
            <a:r>
              <a:rPr sz="2400" spc="-60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C3740"/>
                </a:solidFill>
                <a:latin typeface="Calibri"/>
                <a:cs typeface="Calibri"/>
              </a:rPr>
              <a:t>stage</a:t>
            </a:r>
            <a:r>
              <a:rPr sz="2400" spc="-75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C3740"/>
                </a:solidFill>
                <a:latin typeface="Calibri"/>
                <a:cs typeface="Calibri"/>
              </a:rPr>
              <a:t>of</a:t>
            </a:r>
            <a:r>
              <a:rPr sz="2400" spc="-60" dirty="0">
                <a:solidFill>
                  <a:srgbClr val="2C37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C3740"/>
                </a:solidFill>
                <a:latin typeface="Calibri"/>
                <a:cs typeface="Calibri"/>
              </a:rPr>
              <a:t>implementation.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288394" y="6506209"/>
            <a:ext cx="15938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25" dirty="0">
                <a:solidFill>
                  <a:srgbClr val="5F6973"/>
                </a:solidFill>
                <a:latin typeface="Trebuchet MS"/>
                <a:cs typeface="Trebuchet MS"/>
              </a:rPr>
              <a:t>11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30471" y="5746432"/>
            <a:ext cx="31051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275B91"/>
                </a:solidFill>
                <a:latin typeface="Trebuchet MS"/>
                <a:cs typeface="Trebuchet MS"/>
              </a:rPr>
              <a:t>Review–I</a:t>
            </a:r>
            <a:r>
              <a:rPr sz="1550" b="1" spc="70" dirty="0">
                <a:solidFill>
                  <a:srgbClr val="275B91"/>
                </a:solidFill>
                <a:latin typeface="Trebuchet MS"/>
                <a:cs typeface="Trebuchet MS"/>
              </a:rPr>
              <a:t> </a:t>
            </a:r>
            <a:r>
              <a:rPr sz="1550" b="1" dirty="0">
                <a:solidFill>
                  <a:srgbClr val="275B91"/>
                </a:solidFill>
                <a:latin typeface="Trebuchet MS"/>
                <a:cs typeface="Trebuchet MS"/>
              </a:rPr>
              <a:t>Focus:</a:t>
            </a:r>
            <a:r>
              <a:rPr sz="1550" b="1" spc="60" dirty="0">
                <a:solidFill>
                  <a:srgbClr val="275B91"/>
                </a:solidFill>
                <a:latin typeface="Trebuchet MS"/>
                <a:cs typeface="Trebuchet MS"/>
              </a:rPr>
              <a:t> </a:t>
            </a:r>
            <a:r>
              <a:rPr sz="1550" b="1" dirty="0">
                <a:solidFill>
                  <a:srgbClr val="275B91"/>
                </a:solidFill>
                <a:latin typeface="Trebuchet MS"/>
                <a:cs typeface="Trebuchet MS"/>
              </a:rPr>
              <a:t>Database</a:t>
            </a:r>
            <a:r>
              <a:rPr sz="1550" b="1" spc="125" dirty="0">
                <a:solidFill>
                  <a:srgbClr val="275B91"/>
                </a:solidFill>
                <a:latin typeface="Trebuchet MS"/>
                <a:cs typeface="Trebuchet MS"/>
              </a:rPr>
              <a:t> </a:t>
            </a:r>
            <a:r>
              <a:rPr sz="1550" b="1" spc="-10" dirty="0">
                <a:solidFill>
                  <a:srgbClr val="275B91"/>
                </a:solidFill>
                <a:latin typeface="Trebuchet MS"/>
                <a:cs typeface="Trebuchet MS"/>
              </a:rPr>
              <a:t>Design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1350</Words>
  <Application>Microsoft Office PowerPoint</Application>
  <PresentationFormat>Widescreen</PresentationFormat>
  <Paragraphs>225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 MT</vt:lpstr>
      <vt:lpstr>Calibri</vt:lpstr>
      <vt:lpstr>Times New Roman</vt:lpstr>
      <vt:lpstr>Trebuchet MS</vt:lpstr>
      <vt:lpstr>Office Theme</vt:lpstr>
      <vt:lpstr>Hospital Management    Database System</vt:lpstr>
      <vt:lpstr>Outline</vt:lpstr>
      <vt:lpstr>1. Introduction</vt:lpstr>
      <vt:lpstr>2. Problem Statement</vt:lpstr>
      <vt:lpstr>3. Objectives</vt:lpstr>
      <vt:lpstr>4. System Scope</vt:lpstr>
      <vt:lpstr>5.1 Entities and Attributes</vt:lpstr>
      <vt:lpstr>5.2 Entities and Attributes</vt:lpstr>
      <vt:lpstr>6.1 Relationships and Cardinality</vt:lpstr>
      <vt:lpstr>6.2 Relationships and Cardinality</vt:lpstr>
      <vt:lpstr>7.1Relational Database Schema</vt:lpstr>
      <vt:lpstr>7.2 Relational Database Schema</vt:lpstr>
      <vt:lpstr>8. ER Diagram</vt:lpstr>
      <vt:lpstr>9. Team Responsibilities and GitHub</vt:lpstr>
      <vt:lpstr>10.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Manikrishnan Achanta</dc:creator>
  <cp:lastModifiedBy>Manikrishnan Achanta</cp:lastModifiedBy>
  <cp:revision>5</cp:revision>
  <dcterms:created xsi:type="dcterms:W3CDTF">2026-08-09T10:15:03Z</dcterms:created>
  <dcterms:modified xsi:type="dcterms:W3CDTF">2026-10-10T10:27:07Z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2026-08-09T00:00:00Z</vt:filetime>
  </property>
  <property fmtid="{D5CDD505-2E9C-101B-9397-08002B2CF9AE}" pid="4" name="Creator">
    <vt:lpwstr>PDFium</vt:lpwstr>
  </property>
  <property fmtid="{D5CDD505-2E9C-101B-9397-08002B2CF9AE}" pid="5" name="Producer">
    <vt:lpwstr>PDFium</vt:lpwstr>
  </property>
  <property fmtid="{D5CDD505-2E9C-101B-9397-08002B2CF9AE}" pid="6" name="LastSaved">
    <vt:filetime>2026-08-09T00:00:00Z</vt:filetime>
  </property>
</Properties>
</file>