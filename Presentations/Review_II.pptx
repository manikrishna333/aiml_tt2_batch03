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272325" y="148648"/>
            <a:ext cx="10360152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Management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System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92721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– Review II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20053"/>
            <a:ext cx="103601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Implementation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Management Systems (2501IT05)</a:t>
            </a:r>
            <a:endParaRPr lang="en-US" sz="1800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484505" y="59055"/>
            <a:ext cx="2159000" cy="195199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1A3C8A1F-9536-0EB4-9D3D-75A4F54F17D2}"/>
              </a:ext>
            </a:extLst>
          </p:cNvPr>
          <p:cNvSpPr txBox="1"/>
          <p:nvPr/>
        </p:nvSpPr>
        <p:spPr>
          <a:xfrm>
            <a:off x="914400" y="3559938"/>
            <a:ext cx="4363085" cy="864869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>
            <a:defPPr>
              <a:defRPr kern="0"/>
            </a:defPPr>
          </a:lstStyle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98450" algn="l"/>
                <a:tab pos="3596640" algn="l"/>
              </a:tabLst>
            </a:pPr>
            <a:r>
              <a:rPr sz="1800" dirty="0">
                <a:latin typeface="Calibri"/>
                <a:cs typeface="Calibri"/>
              </a:rPr>
              <a:t>25B11AI006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MANI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KRISHNAN</a:t>
            </a:r>
            <a:r>
              <a:rPr sz="1800" dirty="0">
                <a:latin typeface="Calibri"/>
                <a:cs typeface="Calibri"/>
              </a:rPr>
              <a:t>	-</a:t>
            </a:r>
            <a:r>
              <a:rPr sz="1800" spc="4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25B11AI218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VENKATA</a:t>
            </a:r>
            <a:r>
              <a:rPr sz="1800" dirty="0">
                <a:latin typeface="Calibri"/>
                <a:cs typeface="Calibri"/>
              </a:rPr>
              <a:t> KOUSHIK-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9023F424-9442-F0F8-9B4B-565DEA52E13F}"/>
              </a:ext>
            </a:extLst>
          </p:cNvPr>
          <p:cNvSpPr txBox="1"/>
          <p:nvPr/>
        </p:nvSpPr>
        <p:spPr>
          <a:xfrm>
            <a:off x="4337081" y="4664731"/>
            <a:ext cx="3074670" cy="203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Academic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Year: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2026-</a:t>
            </a:r>
            <a:r>
              <a:rPr sz="1800" spc="-20" dirty="0">
                <a:latin typeface="Times New Roman"/>
                <a:cs typeface="Times New Roman"/>
              </a:rPr>
              <a:t>2027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812800" marR="5080" indent="-800735">
              <a:lnSpc>
                <a:spcPct val="100800"/>
              </a:lnSpc>
            </a:pPr>
            <a:r>
              <a:rPr sz="1800" dirty="0">
                <a:latin typeface="Calibri"/>
                <a:cs typeface="Calibri"/>
              </a:rPr>
              <a:t>Under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esteemed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guidance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b="1" dirty="0">
                <a:latin typeface="Calibri"/>
                <a:cs typeface="Calibri"/>
              </a:rPr>
              <a:t>Dr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Kishorekumar </a:t>
            </a:r>
            <a:r>
              <a:rPr sz="1800" spc="-10" dirty="0">
                <a:latin typeface="Calibri"/>
                <a:cs typeface="Calibri"/>
              </a:rPr>
              <a:t>Associate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Professor Department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 </a:t>
            </a:r>
            <a:r>
              <a:rPr sz="1800" b="1" dirty="0">
                <a:latin typeface="Calibri"/>
                <a:cs typeface="Calibri"/>
              </a:rPr>
              <a:t>Aditya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University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41B9BB79-6DAB-05D7-C705-6E4C4C96FF4A}"/>
              </a:ext>
            </a:extLst>
          </p:cNvPr>
          <p:cNvSpPr txBox="1"/>
          <p:nvPr/>
        </p:nvSpPr>
        <p:spPr>
          <a:xfrm>
            <a:off x="5714090" y="3559938"/>
            <a:ext cx="6242050" cy="864869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>
            <a:defPPr>
              <a:defRPr kern="0"/>
            </a:defPPr>
          </a:lstStyle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26B61AI002-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MADDIPATI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BHUVANA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VENKATA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JASWANTH-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98450" algn="l"/>
                <a:tab pos="1685289" algn="l"/>
              </a:tabLst>
            </a:pPr>
            <a:r>
              <a:rPr sz="1800" spc="-10" dirty="0">
                <a:latin typeface="Calibri"/>
                <a:cs typeface="Calibri"/>
              </a:rPr>
              <a:t>25B11AI116</a:t>
            </a:r>
            <a:r>
              <a:rPr sz="1800" dirty="0">
                <a:latin typeface="Calibri"/>
                <a:cs typeface="Calibri"/>
              </a:rPr>
              <a:t>	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SRI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RAM KISHAN-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691B2-D747-6013-BD7C-64FEC85E00EC}"/>
              </a:ext>
            </a:extLst>
          </p:cNvPr>
          <p:cNvSpPr txBox="1"/>
          <p:nvPr/>
        </p:nvSpPr>
        <p:spPr>
          <a:xfrm>
            <a:off x="4975778" y="3222685"/>
            <a:ext cx="1476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cs typeface="Calibri"/>
              </a:rPr>
              <a:t>Presented</a:t>
            </a:r>
            <a:r>
              <a:rPr lang="en-IN" b="1" spc="-70" dirty="0">
                <a:cs typeface="Calibri"/>
              </a:rPr>
              <a:t> </a:t>
            </a:r>
            <a:r>
              <a:rPr lang="en-IN" b="1" spc="-25" dirty="0">
                <a:cs typeface="Calibri"/>
              </a:rPr>
              <a:t>by:</a:t>
            </a:r>
            <a:endParaRPr lang="en-IN" dirty="0">
              <a:cs typeface="Calibri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Project Overview / Abstract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relational database for hospital information.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patients, doctors, departments, appointments, admissions, treatments, prescriptions, medicines and billing.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 related entities connected through one-to-many relationships.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integrity enforced with Primary Keys, Foreign Keys and constraints.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in SQL (MySQL): DDL, DML and DQL.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up to Third Normal Form (3NF).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566160" cy="44805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29184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Hospitals handle interlinked records of patients, doctors, rooms and bills.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design of entities, attributes, keys, relationships and ER diagram.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through SQL.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44805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20240"/>
            <a:ext cx="329184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or separate records cause duplication and inconsistency.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is slow; patient records are error-prone.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centralized database enforces relationships through keys.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01000" y="1463040"/>
            <a:ext cx="3566160" cy="44805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Contribution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920240"/>
            <a:ext cx="329184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hospital records.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duplicate data.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Referential integrity via PK/FK.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SQL retrieval.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for scheduling, admission and prescriptions.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major hospital entities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600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6002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suitable attributes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14630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600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16002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0632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2004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the ER diagram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30632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2004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ER model to relational schema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30632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Primary and Foreign Keys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46634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800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8006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duplication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97680" y="46634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34840" y="4800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8006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consistency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01000" y="4663440"/>
            <a:ext cx="352044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38160" y="4800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480060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an organized database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Existing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394960" cy="44805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Manual, paper-based records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Disconnected Excel sheets/files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Duplicate, inconsistent information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Time-consuming searches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 generating reports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Data-entry errors and lost records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44805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5448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on the hospital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20240"/>
            <a:ext cx="507492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history and bills are hard to find.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Admissions and bills are not linked.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consolidated view for administration.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Proposed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hospital database with ten entities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registration and record management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 and department management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 scheduling between patients and doctors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Admission and room allocation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Treatment, prescription and medicine tracking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Billing and payment-status management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SQL-based retrieval and reporting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Referential integrity across all tables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Functional &amp; Non-Functional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25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modules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94360" y="1691640"/>
          <a:ext cx="6949440" cy="4206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Register, update, search, display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Profile, specialization, department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 and location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Appointment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Patient–doctor date and 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Admission &amp; Room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Allocate rooms, track status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Treatment, doctor, cost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Prescription &amp; Medicine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Dosage linked to patient/doctor/medicine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Billing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Bills, amounts, payment status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Search &amp; Reporting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SQL retrieval of information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86384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6" name="Shape 5"/>
          <p:cNvSpPr/>
          <p:nvPr/>
        </p:nvSpPr>
        <p:spPr>
          <a:xfrm>
            <a:off x="7863840" y="1691640"/>
            <a:ext cx="370332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17830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7373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queries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2423160"/>
            <a:ext cx="370332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0" y="25146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24688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invalid references or duplicate keys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63840" y="3154680"/>
            <a:ext cx="370332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32461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32004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access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0" y="3886200"/>
            <a:ext cx="370332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01000" y="39776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93192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understand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63840" y="4617720"/>
            <a:ext cx="370332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01000" y="470916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transactions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63840" y="5349240"/>
            <a:ext cx="370332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1000" y="54406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53949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growth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Database Design – Major Entities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and location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07208" y="164592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173736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44368" y="210312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Details and contact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0056" y="164592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173736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10312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category, price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32904" y="164592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70064" y="173736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70064" y="210312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Number, type, status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45752" y="164592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82912" y="173736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582912" y="210312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Profile, specialization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374904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4048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20624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Patient–doctor date/time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807208" y="374904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44368" y="384048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ADMISSION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944368" y="420624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allocation, status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0056" y="374904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7216" y="384048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157216" y="420624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 and cost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32904" y="374904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70064" y="384048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PRESCRIPTION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70064" y="420624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Dosage, medicine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45752" y="3749040"/>
            <a:ext cx="2084832" cy="18745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82912" y="384048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582912" y="4206240"/>
            <a:ext cx="1810512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Amount, payment status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ER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7EEE39D-245D-3593-9ACB-898AE621E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30098"/>
            <a:ext cx="9848500" cy="55427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Relationships &amp; Cardinality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94360" y="1280160"/>
          <a:ext cx="10972800" cy="486460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Relationship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Cardinality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Meaning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 → DOCTOR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department has many doctors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 → ROOM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department contains many rooms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 → APPOINTMENT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doctor has many appointments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 → APPOINTMENT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patient has many appointments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 → ADMISSION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patient has many admissions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ROOM → ADMISSION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room has many admissions over time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 → TREATMENT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patient has many treatments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 → TREATMENT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doctor provides many treatments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 → PRESCRIPTION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patient has many prescriptions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 → PRESCRIPTION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doctor issues many prescriptions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MEDICINE → PRESCRIPTION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medicine appears in many prescriptions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 → BILLING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patient has many bills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ADMISSION → BILLING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: M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Optional link; outpatient bills leave it NULL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 Relational Schema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94360" y="1280160"/>
          <a:ext cx="10972800" cy="48432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Schema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Department(Department_ID, Department_Name, Location)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Department_ID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Patient(Patient_ID, Name, Age, Gender, Mobile, Address)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Patient_ID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MEDICINE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Medicine(Medicine_ID, Medicine_Name, Category, Price)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Medicine_ID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Room(Room_ID, Room_Number, Room_Type, Status, Department_ID)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Room_ID; FK: Department_ID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Doctor(Doctor_ID, Name, Specialization, Phone, Department_ID)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Doctor_ID; FK: Department_ID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APPOINTMENT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Appointment(Appointment_ID, Patient_ID, Doctor_ID, Date, Time)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Appointment_ID; FK: Patient_ID, Doctor_ID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ADMISSION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Admission(Admission_ID, Patient_ID, Room_ID, Admission_Date, Status)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Admission_ID; FK: Patient_ID, Room_ID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Treatment(Treatment_ID, Patient_ID, Doctor_ID, Treatment_Name, Cost)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Treatment_ID; FK: Patient_ID, Doctor_ID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PRESCRIPTION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Prescription(Prescription_ID, Patient_ID, Doctor_ID, Medicine_ID, Date, Dosage)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Prescription_ID; FK: Patient_ID, Doctor_ID, Medicine_ID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BILLING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Billing(Bill_ID, Patient_ID, Admission_ID, Amount, Bill_Date, Payment_Status)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PK: Bill_ID; FK: Patient_ID, Admission_ID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 Table Design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94360" y="1371600"/>
          <a:ext cx="10972800" cy="4937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Attributes &amp; Constraints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Department_ID PK, AUTO_INCREMENT · Department_Name VARCHAR(100) NOT NULL, UNIQUE · Location VARCHAR(100) NOT NULL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Patient_ID PK · Name NOT NULL · Age INT NOT NULL, CHECK (0–120) · Gender ENUM(Male, Female, Other) NOT NULL · Mobile VARCHAR(15) NOT NULL, UNIQUE · Address NOT NULL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MEDICINE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Medicine_ID PK · Medicine_Name NOT NULL · Category VARCHAR(50) NOT NULL · Price DECIMAL(10,2) NOT NULL, CHECK (&gt;= 0)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ROOM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Room_ID PK · Room_Number VARCHAR(10) NOT NULL, UNIQUE · Room_Type ENUM(General, Private, ICU, Deluxe) · Status ENUM(Available, Occupied, Maintenance) DEFAULT Available · Department_ID FK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Doctor_ID PK · Name NOT NULL · Specialization NOT NULL · Phone VARCHAR(15) NOT NULL, UNIQUE · Department_ID INT NOT NULL, FK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 Table Design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94360" y="1371600"/>
          <a:ext cx="10972800" cy="4937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Attributes &amp; Constraints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APPOINTMENT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Appointment_ID PK · Patient_ID FK · Doctor_ID FK · Date DATE NOT NULL · Time TIME NOT NULL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ADMISSION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Admission_ID PK · Patient_ID FK · Room_ID FK · Admission_Date DATE NOT NULL · Status ENUM(Admitted, Discharged) DEFAULT Admitted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TREATMENT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Treatment_ID PK · Patient_ID FK · Doctor_ID FK · Treatment_Name VARCHAR(150) NOT NULL · Cost DECIMAL(10,2) NOT NULL, CHECK (&gt;= 0)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PRESCRIPTION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Prescription_ID PK · Patient_ID, Doctor_ID, Medicine_ID FK · Date DATE NOT NULL · Dosage VARCHAR(100) NOT NULL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BILLING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Bill_ID PK · Patient_ID FK · Admission_ID FK, NULL for outpatient · Amount DECIMAL(10,2) NOT NULL, CHECK (&gt;= 0) · Bill_Date DATE NOT NULL · Payment_Status ENUM(Paid, Pending, Partial) DEFAULT Pending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 Keys &amp; Constraints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94360" y="1371600"/>
          <a:ext cx="10972800" cy="457809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Constraint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 from the project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Primary Key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Department_ID, Patient_ID, Doctor_ID, Room_ID … Bill_ID (all AUTO_INCREMENT)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Foreign Key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Doctor.Department_ID → Department; Admission.Room_ID → Room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NULL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Names, identifiers, dates and status values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Department_Name, Patient.Mobile, Room_Number, Doctor.Phone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CHECK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Patient.Age BETWEEN 0 AND 120; Price, Cost, Amount &gt;= 0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DEFAULT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Room.Status = Available; Admission.Status = Admitted; Payment_Status = Pending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UPDATE / ON DELETE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CASCADE on patient-owned records (Appointment, Admission, Treatment, Prescription, Billing); RESTRICT for Department, Doctor, Room, Medicine in use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 Normalization: UNF → 1NF → 2NF → 3NF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2560320" cy="26517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UNF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record holds patient, doctor, department, room plus repeating treatment and prescription groups.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37744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560320" cy="26517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1NF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2024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Repeating groups removed; atomic values. Each treatment and prescription is its own row.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37744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2560320" cy="26517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2NF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92024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 dependencies removed: patient, doctor, treatment and prescription attributes depend on their own keys.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37744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560320" cy="265176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3NF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192024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Transitive dependencies removed: department, room and medicine details stored once. Result: ten relations.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4434840"/>
            <a:ext cx="3566160" cy="1463040"/>
          </a:xfrm>
          <a:prstGeom prst="rect">
            <a:avLst/>
          </a:prstGeom>
          <a:solidFill>
            <a:srgbClr val="EFF5FA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Redundancy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89204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Department, room and medicine details stored once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97680" y="4434840"/>
            <a:ext cx="3566160" cy="1463040"/>
          </a:xfrm>
          <a:prstGeom prst="rect">
            <a:avLst/>
          </a:prstGeom>
          <a:solidFill>
            <a:srgbClr val="EFF5FA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anomalies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489204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change is made in one place only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01000" y="4434840"/>
            <a:ext cx="3566160" cy="1463040"/>
          </a:xfrm>
          <a:prstGeom prst="rect">
            <a:avLst/>
          </a:prstGeom>
          <a:solidFill>
            <a:srgbClr val="EFF5FA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data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489204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 and patient details are not repeated in every record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 SQL Implementation – DDL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&amp; tables (PK, NOT NULL, UNIQUE, CHECK)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394960" cy="44805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DATABASE hospital_management_db;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 hospital_management_db;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DEPARTMENT 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Department_ID INT AUTO_INCREMENT PRIMARY KEY,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Department_Name VARCHAR(100) NOT NULL UNIQUE,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Location VARCHAR(100) NOT NULL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PATIENT 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Patient_ID INT AUTO_INCREMENT PRIMARY KEY,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Name VARCHAR(100) NOT NULL,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Age INT NOT NULL CHECK (Age BETWEEN 0 AND 120),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Gender ENUM('Male','Female','Other') NOT NULL,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Mobile VARCHAR(15) NOT NULL UNIQUE,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Address VARCHAR(255) NOT NULL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Key, DEFAULT, ON UPDATE / ON DELETE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03520" cy="44805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ROOM 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Room_ID INT AUTO_INCREMENT PRIMARY KEY,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Room_Number VARCHAR(10) NOT NULL UNIQUE,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Room_Type ENUM('General','Private',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'ICU','Deluxe') NOT NULL,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Status ENUM('Available','Occupied',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'Maintenance') NOT NULL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DEFAULT 'Available',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Department_ID INT NOT NULL,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CONSTRAINT fk_room_department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FOREIGN KEY (Department_ID)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REFERENCES DEPARTMENT(Department_ID)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ON UPDATE CASCADE ON DELETE RESTRICT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 SQL Implementation – DML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(sample data)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760720" cy="44805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486400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DEPARTMENT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(Department_Name, Location) VALUES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('Cardiology', 'Block A, Floor 1'),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('Orthopedics', 'Block A, Floor 2'),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('Neurology', 'Block B, Floor 1'), ...;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PATIENT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(Name, Age, Gender, Mobile, Address) VALUES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('Ravi Kumar', 34, 'Male',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'9876543210', 'Kakinada, AP'), ...;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BILLING (Patient_ID,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Admission_ID, Amount, Bill_Date,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Payment_Status)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VALUES (1, 1, 125000.00,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'2026-09-05', 'Partial');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280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0" y="1645920"/>
            <a:ext cx="4937760" cy="12801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73736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 ROOM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 Status = 'Available'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Room_ID = 2;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200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3566160"/>
            <a:ext cx="4937760" cy="109728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6576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DELETE FROM APPOINTMENT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Appointment_ID = 5;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9377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table is populated with 5+ FK-consistent rows; parent tables are inserted before child tables.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 DQL – Data Retrieval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+ WHERE (Q2)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394960" cy="118872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Patient_ID, Name, Age, Gender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PATIENT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Age &gt; 40;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+ ORDER BY (Q20)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03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Bill_ID, Patient_ID, Amount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BILLING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Payment_Status = 'Pending'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 BY Amount DESC;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004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Filtering available rooms (Q15)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5394960" cy="100584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576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ROOM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Status = 'Available';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2004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DISTINCT / LIKE / IS NULL (additional examples)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3566160"/>
            <a:ext cx="53035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6576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DISTINCT Specialization FROM DOCTOR;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PATIENT WHERE Name LIKE 'R%';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BILLING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Admission_ID IS NULL;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394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Q2, Q15 and Q20 are from the project query set. The DISTINCT, LIKE and IS NULL examples run on the same schema.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 SQL Joins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Department–Doctor: EQUI JOIN (Q5)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394960" cy="17373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D.Name AS Doctor_Name, D.Specialization,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Dept.Department_Name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DOCTOR 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DEPARTMENT Dept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ON D.Department_ID = Dept.Department_ID;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Patient–Admission: LEFT JOIN (Q6)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03520" cy="17373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P.Patient_ID, P.Name,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A.Admission_Date, A.Status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PATIENT P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LEFT JOIN ADMISSION A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ON P.Patient_ID = A.Patient_ID;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57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Patient–Appointment: NATURAL JOIN (Q7)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5394960" cy="118872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Name, Age, Appointment_ID, Date, Time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PATIENT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NATURAL JOIN APPOINTMENT;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657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Multi-table: Patient–Admission–Room (Q16)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4023360"/>
            <a:ext cx="53035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P.Name, A.Admission_Date, R.Room_Number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PATIENT P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ADMISSION A ON P.Patient_ID = A.Patient_ID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ROOM R ON A.Room_ID = R.Room_ID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A.Status = 'Admitted';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 Aggregate Functions &amp; Grouping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82D4A"/>
          </a:solidFill>
          <a:ln w="9525">
            <a:solidFill>
              <a:srgbClr val="182D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82D4A"/>
          </a:solidFill>
          <a:ln w="9525">
            <a:solidFill>
              <a:srgbClr val="182D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3716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82D4A"/>
          </a:solidFill>
          <a:ln w="9525">
            <a:solidFill>
              <a:srgbClr val="182D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3716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AVG()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5DEE9"/>
          </a:solidFill>
          <a:ln w="9525">
            <a:solidFill>
              <a:srgbClr val="182D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3716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9516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5DEE9"/>
          </a:solidFill>
          <a:ln w="9525">
            <a:solidFill>
              <a:srgbClr val="182D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3716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82D4A"/>
          </a:solidFill>
          <a:ln w="9525">
            <a:solidFill>
              <a:srgbClr val="182D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13716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BY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19556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82D4A"/>
          </a:solidFill>
          <a:ln w="9525">
            <a:solidFill>
              <a:srgbClr val="182D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95560" y="13716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1031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 with total treatment revenue &gt; 5000 (Q8)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2468880"/>
            <a:ext cx="63093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2560320"/>
            <a:ext cx="60350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Doc.Name AS Doctor_Name,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COUNT(T.Treatment_ID) AS Treatments_Given,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SUM(T.Cost) AS Total_Revenue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TREATMENT 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DOCTOR Doc ON T.Doctor_ID = Doc.Doctor_ID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 BY Doc.Doctor_ID, Doc.Name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HAVING SUM(T.Cost) &gt; 5000;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103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bill per payment status (Q9)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78040" y="2468880"/>
            <a:ext cx="4389120" cy="2286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2560320"/>
            <a:ext cx="41148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Payment_Status,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COUNT(Bill_ID) AS Number_Of_Bills,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AVG(Amount) AS Average_Amount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BILLING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 BY Payment_Status;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= used in project queries. MAX() and MIN() are standard MySQL aggregates not used in this query set.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 CRUD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2560320" cy="1005840"/>
          </a:xfrm>
          <a:prstGeom prst="rect">
            <a:avLst/>
          </a:prstGeom>
          <a:solidFill>
            <a:srgbClr val="182D4A"/>
          </a:solidFill>
          <a:ln w="12700">
            <a:solidFill>
              <a:srgbClr val="182D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INSERT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697480"/>
            <a:ext cx="2560320" cy="237744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88920"/>
            <a:ext cx="22860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PATIENT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(Name, Age, Gender, Mobile, Address)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VALUES ('Deepak Sinha', 40, 'Male',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'9876543299', 'Kakinada, AP');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560320" cy="1005840"/>
          </a:xfrm>
          <a:prstGeom prst="rect">
            <a:avLst/>
          </a:prstGeom>
          <a:solidFill>
            <a:srgbClr val="182D4A"/>
          </a:solidFill>
          <a:ln w="12700">
            <a:solidFill>
              <a:srgbClr val="182D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46304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SELECT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2697480"/>
            <a:ext cx="2560320" cy="237744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2788920"/>
            <a:ext cx="22860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Patient_ID, Name,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Age, Gender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PATIENT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Age &gt; 40;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2560320" cy="1005840"/>
          </a:xfrm>
          <a:prstGeom prst="rect">
            <a:avLst/>
          </a:prstGeom>
          <a:solidFill>
            <a:srgbClr val="182D4A"/>
          </a:solidFill>
          <a:ln w="12700">
            <a:solidFill>
              <a:srgbClr val="182D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46304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UPDATE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2697480"/>
            <a:ext cx="2560320" cy="237744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788920"/>
            <a:ext cx="22860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 ROOM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 Status = 'Available'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Room_ID = 2;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560320" cy="1005840"/>
          </a:xfrm>
          <a:prstGeom prst="rect">
            <a:avLst/>
          </a:prstGeom>
          <a:solidFill>
            <a:srgbClr val="182D4A"/>
          </a:solidFill>
          <a:ln w="12700">
            <a:solidFill>
              <a:srgbClr val="182D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146304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DELETE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61120" y="2697480"/>
            <a:ext cx="2560320" cy="237744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98280" y="2788920"/>
            <a:ext cx="22860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DELETE FROM APPOINTMENT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Appointment_ID = 5;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3949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Q1–Q4 of the project query set, run on the hospital_management_db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 Subquery &amp; 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Correlated subquery (Q10)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394960" cy="384048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P.Patient_ID, P.Name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PATIENT P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SELECT SUM(B.Amount)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FROM BILLING B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WHERE B.Patient_ID = P.Patient_ID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&gt; 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SELECT AVG(Amount) FROM BILLING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Patient_Admission_Room_View (Q11)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0352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502920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VIEW Patient_Admission_Room_View AS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P.Patient_ID, P.Name AS Patient_Name,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P.Age, P.Gender, A.Admission_ID,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A.Admission_Date, A.Status AS Admission_Status,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R.Room_ID, R.Room_Number, R.Room_Type,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R.Status AS Room_Status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PATIENT P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ADMISSION A ON P.Patient_ID = A.Patient_ID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ROOM R ON A.Room_ID = R.Room_ID;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4846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the view (Q12)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5212080"/>
            <a:ext cx="5303520" cy="640080"/>
          </a:xfrm>
          <a:prstGeom prst="rect">
            <a:avLst/>
          </a:prstGeom>
          <a:solidFill>
            <a:srgbClr val="F4F6F9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53035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82D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Patient_Admission_Room_View;</a:t>
            </a:r>
            <a:endParaRPr lang="en-US" sz="13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 Data Integrity &amp;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566160" cy="21031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integrity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table has an AUTO_INCREMENT primary key.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21031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Referential integrity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2024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keys with ON UPDATE / ON DELETE (CASCADE or RESTRICT).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0" y="1463040"/>
            <a:ext cx="3566160" cy="21031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Uniqueness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92024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Department_Name, Patient.Mobile, Room_Number, Doctor.Phone.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3566160" cy="21031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 fields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25196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NULL on names, identifiers, dates and statuses.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97680" y="3794760"/>
            <a:ext cx="3566160" cy="21031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3886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validation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25196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ENUM for Gender, Room_Type, Status, Payment_Status; Age 0–120.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01000" y="3794760"/>
            <a:ext cx="3566160" cy="210312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3886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validation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25196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Price, Cost, Amount &gt;= 0; default statuses; Billing.Admission_ID NULL for outpatients.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22. SQL Output / Screenshots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5170" y="1065277"/>
            <a:ext cx="11480688" cy="45719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10152" y="13716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10152" y="13716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DATABASE CREATION SCREENSHOT HERE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3472" y="13716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313472" y="13716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TABLE CREATION SCREENSHOT 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16792" y="13716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016792" y="13716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INSERTED RECORDS SCREENSHOT HERE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0152" y="29718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10152" y="29718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SELECT OUTPUTS SCREENSHOT HERE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13472" y="29718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313472" y="29718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JOINS SCREENSHOT HERE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16792" y="29718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016792" y="29718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AGGREGATES SCREENSHOT HERE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0152" y="45720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10152" y="45720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CRUD SCREENSHOT HERE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3472" y="45720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4313472" y="45720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VIEW SCREENSHOT HERE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16792" y="4572000"/>
            <a:ext cx="35503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B9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016792" y="4572000"/>
            <a:ext cx="3550367" cy="1417320"/>
          </a:xfrm>
          <a:prstGeom prst="rect">
            <a:avLst/>
          </a:prstGeom>
          <a:noFill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VALIDATION / ERROR RESULTS SCREENSHOT HERE</a:t>
            </a:r>
            <a:endParaRPr lang="en-US" sz="1400" dirty="0"/>
          </a:p>
        </p:txBody>
      </p:sp>
      <p:pic>
        <p:nvPicPr>
          <p:cNvPr id="29" name="Picture 28" descr="01_database_creation.png">
            <a:extLst>
              <a:ext uri="{FF2B5EF4-FFF2-40B4-BE49-F238E27FC236}">
                <a16:creationId xmlns:a16="http://schemas.microsoft.com/office/drawing/2014/main" id="{C5C516DC-21DE-1735-0956-73EE05AF0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6" y="1293876"/>
            <a:ext cx="3785615" cy="1508760"/>
          </a:xfrm>
          <a:prstGeom prst="rect">
            <a:avLst/>
          </a:prstGeom>
        </p:spPr>
      </p:pic>
      <p:pic>
        <p:nvPicPr>
          <p:cNvPr id="31" name="Picture 30" descr="02_table_creation.png">
            <a:extLst>
              <a:ext uri="{FF2B5EF4-FFF2-40B4-BE49-F238E27FC236}">
                <a16:creationId xmlns:a16="http://schemas.microsoft.com/office/drawing/2014/main" id="{28E79082-5BB9-39E9-F5D4-A0B57A4BB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1293876"/>
            <a:ext cx="3785615" cy="1508760"/>
          </a:xfrm>
          <a:prstGeom prst="rect">
            <a:avLst/>
          </a:prstGeom>
        </p:spPr>
      </p:pic>
      <p:pic>
        <p:nvPicPr>
          <p:cNvPr id="33" name="Picture 32" descr="03_inserted_records.png">
            <a:extLst>
              <a:ext uri="{FF2B5EF4-FFF2-40B4-BE49-F238E27FC236}">
                <a16:creationId xmlns:a16="http://schemas.microsoft.com/office/drawing/2014/main" id="{8B03D100-9FFC-8F60-163E-6446E03D0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246" y="1293876"/>
            <a:ext cx="3785615" cy="1508760"/>
          </a:xfrm>
          <a:prstGeom prst="rect">
            <a:avLst/>
          </a:prstGeom>
        </p:spPr>
      </p:pic>
      <p:pic>
        <p:nvPicPr>
          <p:cNvPr id="35" name="Picture 34" descr="04_select_outputs.png">
            <a:extLst>
              <a:ext uri="{FF2B5EF4-FFF2-40B4-BE49-F238E27FC236}">
                <a16:creationId xmlns:a16="http://schemas.microsoft.com/office/drawing/2014/main" id="{17B47326-B021-AB0C-ADC3-C414356E7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1" y="2926080"/>
            <a:ext cx="3785615" cy="1508760"/>
          </a:xfrm>
          <a:prstGeom prst="rect">
            <a:avLst/>
          </a:prstGeom>
        </p:spPr>
      </p:pic>
      <p:pic>
        <p:nvPicPr>
          <p:cNvPr id="37" name="Picture 36" descr="05_joins.png">
            <a:extLst>
              <a:ext uri="{FF2B5EF4-FFF2-40B4-BE49-F238E27FC236}">
                <a16:creationId xmlns:a16="http://schemas.microsoft.com/office/drawing/2014/main" id="{BD776A9C-09EF-A979-0ADC-C88769705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816" y="2926080"/>
            <a:ext cx="3785615" cy="1508760"/>
          </a:xfrm>
          <a:prstGeom prst="rect">
            <a:avLst/>
          </a:prstGeom>
        </p:spPr>
      </p:pic>
      <p:pic>
        <p:nvPicPr>
          <p:cNvPr id="39" name="Picture 38" descr="06_aggregates.png">
            <a:extLst>
              <a:ext uri="{FF2B5EF4-FFF2-40B4-BE49-F238E27FC236}">
                <a16:creationId xmlns:a16="http://schemas.microsoft.com/office/drawing/2014/main" id="{D008DFD4-5538-C3A6-DE95-EF2A92B84A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0244" y="2898648"/>
            <a:ext cx="3785615" cy="1508760"/>
          </a:xfrm>
          <a:prstGeom prst="rect">
            <a:avLst/>
          </a:prstGeom>
        </p:spPr>
      </p:pic>
      <p:pic>
        <p:nvPicPr>
          <p:cNvPr id="41" name="Picture 40" descr="07_crud_operations.png">
            <a:extLst>
              <a:ext uri="{FF2B5EF4-FFF2-40B4-BE49-F238E27FC236}">
                <a16:creationId xmlns:a16="http://schemas.microsoft.com/office/drawing/2014/main" id="{E68FD67F-78D7-83D4-9DD9-5A4B002BAB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170" y="4572000"/>
            <a:ext cx="3785615" cy="1508760"/>
          </a:xfrm>
          <a:prstGeom prst="rect">
            <a:avLst/>
          </a:prstGeom>
        </p:spPr>
      </p:pic>
      <p:pic>
        <p:nvPicPr>
          <p:cNvPr id="43" name="Picture 42" descr="08_view_output.png">
            <a:extLst>
              <a:ext uri="{FF2B5EF4-FFF2-40B4-BE49-F238E27FC236}">
                <a16:creationId xmlns:a16="http://schemas.microsoft.com/office/drawing/2014/main" id="{1CCA339C-204F-5178-C439-8AE6274861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2816" y="4558284"/>
            <a:ext cx="3785615" cy="1508760"/>
          </a:xfrm>
          <a:prstGeom prst="rect">
            <a:avLst/>
          </a:prstGeom>
        </p:spPr>
      </p:pic>
      <p:pic>
        <p:nvPicPr>
          <p:cNvPr id="45" name="Picture 44" descr="09_validation_errors.png">
            <a:extLst>
              <a:ext uri="{FF2B5EF4-FFF2-40B4-BE49-F238E27FC236}">
                <a16:creationId xmlns:a16="http://schemas.microsoft.com/office/drawing/2014/main" id="{AF9C7154-78D5-ABF5-4C76-8E693F1A53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0243" y="4558284"/>
            <a:ext cx="3785615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 Query Coverage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594360" y="1371600"/>
          <a:ext cx="10972800" cy="49377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Covered by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Basic SELECT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Q2, Q13, Q14, Q15, Q18, Q19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Filtering / Sorting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(Q2, Q15, Q18); ORDER BY (Q20)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Joins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EQUI (Q5), LEFT (Q6), NATURAL (Q7), multi-table (Q16)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Aggregation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COUNT, SUM, AVG (Q8, Q9, Q17, Q21)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GROUP BY / HAVING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GROUP BY (Q8, Q9, Q17, Q21); HAVING (Q8)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CRUD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INSERT Q1, SELECT Q2, UPDATE Q3, DELETE Q4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Subquery &amp; Views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Correlated subquery Q10; view Q11–Q12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Validation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3232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PK, FK, UNIQUE, NOT NULL, CHECK, DEFAULT in DDL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relational database for core hospital information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 related tables: Department to Billing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Keys, Foreign Keys and constraints protect integrity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up to 3NF to reduce redundancy and update anomalies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implementation: CRUD, joins, aggregation, correlated subquery and view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 for hospital reporting; extendable to a full hospital information system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 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4630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&amp; nursing-duty management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0" y="14630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4630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Insurance / cashless claims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632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Laboratory records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30632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30632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Pharmacy inventory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01000" y="30632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30632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dashboards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6634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6634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&amp; recovery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97680" y="46634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46634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logging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0" y="4663440"/>
            <a:ext cx="3566160" cy="13716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83880" y="46634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Stronger database security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 w="12700">
            <a:solidFill>
              <a:srgbClr val="275B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9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Korth, H. F., Silberschatz, A., and Sudarshan, S., Database System Concepts, McGraw Hill.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Elmasri, R. and Navathe, S. B., Fundamentals of Database Systems, Pearson.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MySQL 8.0 Reference Manual, Oracle Corporation, https://dev.mysql.com/doc/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3374</Words>
  <Application>Microsoft Office PowerPoint</Application>
  <PresentationFormat>Widescreen</PresentationFormat>
  <Paragraphs>560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MT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Manikrishnan Achanta</cp:lastModifiedBy>
  <cp:revision>4</cp:revision>
  <dcterms:created xsi:type="dcterms:W3CDTF">2026-09-28T14:19:00Z</dcterms:created>
  <dcterms:modified xsi:type="dcterms:W3CDTF">2026-10-10T10:20:31Z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FADBFD39514B404BAD67A64F05ABD4CF_12</vt:lpwstr>
  </property>
  <property fmtid="{D5CDD505-2E9C-101B-9397-08002B2CF9AE}" pid="3" name="KSOProductBuildVer">
    <vt:lpwstr>1033-12.1.0.28485</vt:lpwstr>
  </property>
</Properties>
</file>